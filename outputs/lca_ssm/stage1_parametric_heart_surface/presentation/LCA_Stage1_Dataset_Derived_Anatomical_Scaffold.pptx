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a604f922e4931" /><Relationship Type="http://schemas.openxmlformats.org/officeDocument/2006/relationships/extended-properties" Target="/docProps/app.xml" Id="Rf19eac33767743f5" /><Relationship Type="http://schemas.openxmlformats.org/officeDocument/2006/relationships/officeDocument" Target="/ppt/presentation.xml" Id="Rdd45a5b2c90e4f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61958ae124a3f"/>
  </p:sldMasterIdLst>
  <p:notesMasterIdLst>
    <p:notesMasterId xmlns:r="http://schemas.openxmlformats.org/officeDocument/2006/relationships" r:id="R9f598b9fb6ad4c82"/>
  </p:notesMasterIdLst>
  <p:sldIdLst>
    <p:sldId xmlns:r="http://schemas.openxmlformats.org/officeDocument/2006/relationships" id="256" r:id="R142826dd606b473a"/>
    <p:sldId xmlns:r="http://schemas.openxmlformats.org/officeDocument/2006/relationships" id="257" r:id="Ra341ad8c000146d7"/>
    <p:sldId xmlns:r="http://schemas.openxmlformats.org/officeDocument/2006/relationships" id="258" r:id="R66515dde4523425b"/>
    <p:sldId xmlns:r="http://schemas.openxmlformats.org/officeDocument/2006/relationships" id="259" r:id="R34e3697338b149ec"/>
    <p:sldId xmlns:r="http://schemas.openxmlformats.org/officeDocument/2006/relationships" id="260" r:id="R6218177783a448aa"/>
    <p:sldId xmlns:r="http://schemas.openxmlformats.org/officeDocument/2006/relationships" id="261" r:id="Rf5c71fcebf0a4c5e"/>
    <p:sldId xmlns:r="http://schemas.openxmlformats.org/officeDocument/2006/relationships" id="262" r:id="R3facbfcb21234a7b"/>
    <p:sldId xmlns:r="http://schemas.openxmlformats.org/officeDocument/2006/relationships" id="263" r:id="R1ee6366ed66c4b0c"/>
    <p:sldId xmlns:r="http://schemas.openxmlformats.org/officeDocument/2006/relationships" id="264" r:id="R9bac5da1ebab485d"/>
    <p:sldId xmlns:r="http://schemas.openxmlformats.org/officeDocument/2006/relationships" id="265" r:id="R6dc82d651e9b488e"/>
    <p:sldId xmlns:r="http://schemas.openxmlformats.org/officeDocument/2006/relationships" id="266" r:id="Rf0565960ae1040d8"/>
    <p:sldId xmlns:r="http://schemas.openxmlformats.org/officeDocument/2006/relationships" id="267" r:id="Rfcf146c850614f1f"/>
    <p:sldId xmlns:r="http://schemas.openxmlformats.org/officeDocument/2006/relationships" id="268" r:id="R3cd4c550158b46f4"/>
    <p:sldId xmlns:r="http://schemas.openxmlformats.org/officeDocument/2006/relationships" id="269" r:id="Rd8844e33e70747ba"/>
    <p:sldId xmlns:r="http://schemas.openxmlformats.org/officeDocument/2006/relationships" id="270" r:id="Rbbdbc608fd494156"/>
    <p:sldId xmlns:r="http://schemas.openxmlformats.org/officeDocument/2006/relationships" id="271" r:id="R242beb9d61634b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61958ae124a3f" /><Relationship Type="http://schemas.openxmlformats.org/officeDocument/2006/relationships/theme" Target="/ppt/theme/theme1.xml" Id="R872d59f8f16c4eea" /><Relationship Type="http://schemas.openxmlformats.org/officeDocument/2006/relationships/notesMaster" Target="/ppt/notesMasters/notesMaster1.xml" Id="R9f598b9fb6ad4c82" /><Relationship Type="http://schemas.openxmlformats.org/officeDocument/2006/relationships/presProps" Target="/ppt/presProps.xml" Id="R7990194a1290403b" /><Relationship Type="http://schemas.openxmlformats.org/officeDocument/2006/relationships/viewProps" Target="/ppt/viewProps.xml" Id="R99f65b5617784af9" /><Relationship Type="http://schemas.openxmlformats.org/officeDocument/2006/relationships/tableStyles" Target="/ppt/tableStyles.xml" Id="Raf90cda4b94346ba" /><Relationship Type="http://schemas.openxmlformats.org/officeDocument/2006/relationships/slide" Target="/ppt/slides/slide1.xml" Id="R142826dd606b473a" /><Relationship Type="http://schemas.openxmlformats.org/officeDocument/2006/relationships/slide" Target="/ppt/slides/slide2.xml" Id="Ra341ad8c000146d7" /><Relationship Type="http://schemas.openxmlformats.org/officeDocument/2006/relationships/slide" Target="/ppt/slides/slide3.xml" Id="R66515dde4523425b" /><Relationship Type="http://schemas.openxmlformats.org/officeDocument/2006/relationships/slide" Target="/ppt/slides/slide4.xml" Id="R34e3697338b149ec" /><Relationship Type="http://schemas.openxmlformats.org/officeDocument/2006/relationships/slide" Target="/ppt/slides/slide5.xml" Id="R6218177783a448aa" /><Relationship Type="http://schemas.openxmlformats.org/officeDocument/2006/relationships/slide" Target="/ppt/slides/slide6.xml" Id="Rf5c71fcebf0a4c5e" /><Relationship Type="http://schemas.openxmlformats.org/officeDocument/2006/relationships/slide" Target="/ppt/slides/slide7.xml" Id="R3facbfcb21234a7b" /><Relationship Type="http://schemas.openxmlformats.org/officeDocument/2006/relationships/slide" Target="/ppt/slides/slide8.xml" Id="R1ee6366ed66c4b0c" /><Relationship Type="http://schemas.openxmlformats.org/officeDocument/2006/relationships/slide" Target="/ppt/slides/slide9.xml" Id="R9bac5da1ebab485d" /><Relationship Type="http://schemas.openxmlformats.org/officeDocument/2006/relationships/slide" Target="/ppt/slides/slide10.xml" Id="R6dc82d651e9b488e" /><Relationship Type="http://schemas.openxmlformats.org/officeDocument/2006/relationships/slide" Target="/ppt/slides/slide11.xml" Id="Rf0565960ae1040d8" /><Relationship Type="http://schemas.openxmlformats.org/officeDocument/2006/relationships/slide" Target="/ppt/slides/slide12.xml" Id="Rfcf146c850614f1f" /><Relationship Type="http://schemas.openxmlformats.org/officeDocument/2006/relationships/slide" Target="/ppt/slides/slide13.xml" Id="R3cd4c550158b46f4" /><Relationship Type="http://schemas.openxmlformats.org/officeDocument/2006/relationships/slide" Target="/ppt/slides/slide14.xml" Id="Rd8844e33e70747ba" /><Relationship Type="http://schemas.openxmlformats.org/officeDocument/2006/relationships/slide" Target="/ppt/slides/slide15.xml" Id="Rbbdbc608fd494156" /><Relationship Type="http://schemas.openxmlformats.org/officeDocument/2006/relationships/slide" Target="/ppt/slides/slide16.xml" Id="R242beb9d61634b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fb73a621bb840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d01817690847e9" /><Relationship Type="http://schemas.openxmlformats.org/officeDocument/2006/relationships/notesMaster" Target="/ppt/notesMasters/notesMaster1.xml" Id="R303370542f7147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f9a6d52ef345f0" /><Relationship Type="http://schemas.openxmlformats.org/officeDocument/2006/relationships/notesMaster" Target="/ppt/notesMasters/notesMaster1.xml" Id="R861f241217f447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adf3616cf4394" /><Relationship Type="http://schemas.openxmlformats.org/officeDocument/2006/relationships/notesMaster" Target="/ppt/notesMasters/notesMaster1.xml" Id="R52e84295df8348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e6ddb6dd714690" /><Relationship Type="http://schemas.openxmlformats.org/officeDocument/2006/relationships/notesMaster" Target="/ppt/notesMasters/notesMaster1.xml" Id="Rbc7713c937d242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b33718d4d94375" /><Relationship Type="http://schemas.openxmlformats.org/officeDocument/2006/relationships/notesMaster" Target="/ppt/notesMasters/notesMaster1.xml" Id="R1a38ae6297864f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334a6cfb604b82" /><Relationship Type="http://schemas.openxmlformats.org/officeDocument/2006/relationships/notesMaster" Target="/ppt/notesMasters/notesMaster1.xml" Id="R199a8947ca9549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420b6c57224eeb" /><Relationship Type="http://schemas.openxmlformats.org/officeDocument/2006/relationships/notesMaster" Target="/ppt/notesMasters/notesMaster1.xml" Id="R73111595ad1a4e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30625ab82445e6" /><Relationship Type="http://schemas.openxmlformats.org/officeDocument/2006/relationships/notesMaster" Target="/ppt/notesMasters/notesMaster1.xml" Id="R0ceb0eba833848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2d85b316434993" /><Relationship Type="http://schemas.openxmlformats.org/officeDocument/2006/relationships/notesMaster" Target="/ppt/notesMasters/notesMaster1.xml" Id="R35baaf6d6f2a42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49075c9faf4723" /><Relationship Type="http://schemas.openxmlformats.org/officeDocument/2006/relationships/notesMaster" Target="/ppt/notesMasters/notesMaster1.xml" Id="R28d90e473c194a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79a8b28094f35" /><Relationship Type="http://schemas.openxmlformats.org/officeDocument/2006/relationships/notesMaster" Target="/ppt/notesMasters/notesMaster1.xml" Id="R6f8fe850f9de43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5cc013c7fb41eb" /><Relationship Type="http://schemas.openxmlformats.org/officeDocument/2006/relationships/notesMaster" Target="/ppt/notesMasters/notesMaster1.xml" Id="R2084c8eba5d843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1e701862a84325" /><Relationship Type="http://schemas.openxmlformats.org/officeDocument/2006/relationships/notesMaster" Target="/ppt/notesMasters/notesMaster1.xml" Id="R7d10864080c24a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cfe998001e4dd3" /><Relationship Type="http://schemas.openxmlformats.org/officeDocument/2006/relationships/notesMaster" Target="/ppt/notesMasters/notesMaster1.xml" Id="R2eb645d891244d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32025200db4f44" /><Relationship Type="http://schemas.openxmlformats.org/officeDocument/2006/relationships/notesMaster" Target="/ppt/notesMasters/notesMaster1.xml" Id="R36ef08de3f5d4b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de28f4d14b4b7e" /><Relationship Type="http://schemas.openxmlformats.org/officeDocument/2006/relationships/notesMaster" Target="/ppt/notesMasters/notesMaster1.xml" Id="R637c6de775f341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52d060e624e2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afcad9f382c4d73" /><Relationship Type="http://schemas.openxmlformats.org/officeDocument/2006/relationships/slideLayout" Target="/ppt/slideLayouts/slideLayout2.xml" Id="R37868a56ff054d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68a56ff054d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39c05c8ef4ea2" /><Relationship Type="http://schemas.openxmlformats.org/officeDocument/2006/relationships/image" Target="/ppt/media/image.png" Id="R4422ec821ca74ab8" /><Relationship Type="http://schemas.openxmlformats.org/officeDocument/2006/relationships/notesSlide" Target="/ppt/notesSlides/notesSlide1.xml" Id="Rb632607cde0a4a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95a058be114252" /><Relationship Type="http://schemas.openxmlformats.org/officeDocument/2006/relationships/notesSlide" Target="/ppt/notesSlides/notesSlide2.xml" Id="R539ef0ce7de846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034196307433c" /><Relationship Type="http://schemas.openxmlformats.org/officeDocument/2006/relationships/notesSlide" Target="/ppt/notesSlides/notesSlide3.xml" Id="R3a9a552427d343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71dcf5b1bc4fc5" /><Relationship Type="http://schemas.openxmlformats.org/officeDocument/2006/relationships/image" Target="/ppt/media/image2.png" Id="R3c52632a930d4d5f" /><Relationship Type="http://schemas.openxmlformats.org/officeDocument/2006/relationships/notesSlide" Target="/ppt/notesSlides/notesSlide4.xml" Id="R78a4cefe30d343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c00c145ba455a" /><Relationship Type="http://schemas.openxmlformats.org/officeDocument/2006/relationships/image" Target="/ppt/media/image3.png" Id="Rac27766826434d02" /><Relationship Type="http://schemas.openxmlformats.org/officeDocument/2006/relationships/notesSlide" Target="/ppt/notesSlides/notesSlide5.xml" Id="R95a007d2393e43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4d95934c124d50" /><Relationship Type="http://schemas.openxmlformats.org/officeDocument/2006/relationships/image" Target="/ppt/media/image4.png" Id="R3e8876e175d94fa5" /><Relationship Type="http://schemas.openxmlformats.org/officeDocument/2006/relationships/notesSlide" Target="/ppt/notesSlides/notesSlide6.xml" Id="Rb69c617641f64d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91aa4e93a499f" /><Relationship Type="http://schemas.openxmlformats.org/officeDocument/2006/relationships/image" Target="/ppt/media/image5.png" Id="R16417cdbb49b4656" /><Relationship Type="http://schemas.openxmlformats.org/officeDocument/2006/relationships/notesSlide" Target="/ppt/notesSlides/notesSlide7.xml" Id="Rcaae9ba2870040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2f42e6c6254dcc" /><Relationship Type="http://schemas.openxmlformats.org/officeDocument/2006/relationships/image" Target="/ppt/media/image6.png" Id="Rd1f57323779945cd" /><Relationship Type="http://schemas.openxmlformats.org/officeDocument/2006/relationships/notesSlide" Target="/ppt/notesSlides/notesSlide8.xml" Id="Rd26de33b9f7049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96c6af0964a4d" /><Relationship Type="http://schemas.openxmlformats.org/officeDocument/2006/relationships/image" Target="/ppt/media/image7.png" Id="Rb9a74aa332994c20" /><Relationship Type="http://schemas.openxmlformats.org/officeDocument/2006/relationships/notesSlide" Target="/ppt/notesSlides/notesSlide9.xml" Id="Rb854235db3334c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48617e7eca4c0f" /><Relationship Type="http://schemas.openxmlformats.org/officeDocument/2006/relationships/image" Target="/ppt/media/image8.png" Id="R17e68bcb38534c68" /><Relationship Type="http://schemas.openxmlformats.org/officeDocument/2006/relationships/notesSlide" Target="/ppt/notesSlides/notesSlide10.xml" Id="R827e596b601643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9190dfc15a4edb" /><Relationship Type="http://schemas.openxmlformats.org/officeDocument/2006/relationships/image" Target="/ppt/media/image9.png" Id="R48d180040e964943" /><Relationship Type="http://schemas.openxmlformats.org/officeDocument/2006/relationships/image" Target="/ppt/media/image10.png" Id="R10fa78ff06d8424b" /><Relationship Type="http://schemas.openxmlformats.org/officeDocument/2006/relationships/image" Target="/ppt/media/image11.png" Id="R7c4349c04dee4c98" /><Relationship Type="http://schemas.openxmlformats.org/officeDocument/2006/relationships/notesSlide" Target="/ppt/notesSlides/notesSlide11.xml" Id="R153966fcd49d40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f107b5644a46d2" /><Relationship Type="http://schemas.openxmlformats.org/officeDocument/2006/relationships/notesSlide" Target="/ppt/notesSlides/notesSlide12.xml" Id="Rf650bf7847124c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9dcc65b43048a8" /><Relationship Type="http://schemas.openxmlformats.org/officeDocument/2006/relationships/notesSlide" Target="/ppt/notesSlides/notesSlide13.xml" Id="R8bc6921c54d94e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506bc244864baf" /><Relationship Type="http://schemas.openxmlformats.org/officeDocument/2006/relationships/image" Target="/ppt/media/image12.png" Id="Red3bf60f015940dc" /><Relationship Type="http://schemas.openxmlformats.org/officeDocument/2006/relationships/notesSlide" Target="/ppt/notesSlides/notesSlide14.xml" Id="R886cf441611a42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04920101774398" /><Relationship Type="http://schemas.openxmlformats.org/officeDocument/2006/relationships/notesSlide" Target="/ppt/notesSlides/notesSlide15.xml" Id="R80b089eae1ad4a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c9b2430abd421d" /><Relationship Type="http://schemas.openxmlformats.org/officeDocument/2006/relationships/notesSlide" Target="/ppt/notesSlides/notesSlide16.xml" Id="R0d255b58bc3e42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6B8F6-4F5F-4978-BA69-01DD1F75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43E38-9CBB-466E-977D-5C23A9F2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9B3EF-683A-4857-9549-B0DA4C6F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0C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FC0CB"/>
                </a:solidFill>
                <a:latin typeface="Aptos"/>
                <a:ea typeface="Aptos"/>
                <a:cs typeface="Aptos"/>
              </a:rPr>
              <a:t>LCA / SSM · TECHNICAL MILESTONE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67A18-6239-4623-94FE-55ACF353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dataset-derived heart scaffold is now generator-ready.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C33D4-4A90-470E-977F-CF1E5B27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5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5CC"/>
                </a:solidFill>
                <a:latin typeface="Aptos"/>
                <a:ea typeface="Aptos"/>
                <a:cs typeface="Aptos"/>
              </a:rPr>
              <a:t>Stage‑1 · case 189.label · immutable source centerlines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2ec821ca74ab8"/>
          <a:stretch xmlns:a="http://schemas.openxmlformats.org/drawingml/2006/main"/>
        </p:blipFill>
        <p:spPr>
          <a:xfrm xmlns:a="http://schemas.openxmlformats.org/drawingml/2006/main">
            <a:off x="7096125" y="1587331"/>
            <a:ext cx="4476750" cy="305468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1A41C-08E5-42F5-9595-0B10A64E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3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24ED3-6C8D-440B-9E9A-B2646175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7E1BD-3406-446D-A1E4-D1AED596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695950"/>
            <a:ext cx="3790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Not a patient-specific myocardial reconstruction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EECA3-147E-4DFF-98ED-1192BB75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FA1A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FA1AD"/>
                </a:solidFill>
                <a:latin typeface="Aptos"/>
                <a:ea typeface="Aptos"/>
                <a:cs typeface="Aptos"/>
              </a:rPr>
              <a:t>Validated baseline · 07 AUG 2026</a:t>
            </a:r>
          </a:p>
        </p:txBody>
      </p:sp>
    </p:spTree>
    <p:extLst>
      <p:ext uri="{BB962C8B-B14F-4D97-AF65-F5344CB8AC3E}">
        <p14:creationId xmlns:p14="http://schemas.microsoft.com/office/powerpoint/2010/main" val="14874282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D50D58-2B0A-4DD8-8C83-095A7974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86F7D-CA10-4CAD-9488-2D616E14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14D30-44CA-47CE-B603-F000DC1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O B J E C T I V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BF8D5-8974-40DA-9BB2-24E186E3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Stage‑1 turns saved measurements into support geometry—without touching the vessels.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B115F-83D7-496A-8C7D-4D465E27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E2335-29ED-456D-B57E-A7C57A12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C3F98-8E77-47DB-8931-E3A7F30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8B69F-0D37-416F-8BC7-B3658E64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9525">
            <a:solidFill>
              <a:srgbClr val="0F1B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1CA08-22ED-4FA5-BB1F-C0776FBA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4C7F5-0196-4813-A739-B561C51E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F100D-8520-4DA4-96A6-F9A0CE0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543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9D3D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9D3DA"/>
                </a:solidFill>
                <a:latin typeface="Aptos"/>
                <a:ea typeface="Aptos"/>
                <a:cs typeface="Aptos"/>
              </a:rPr>
              <a:t>Saved VTP + measurements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597B7-FCF9-40D7-A9F1-7169641E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0D327-5DF7-44B5-9AC8-8B989968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527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7D03C-B00B-4D27-965E-44358560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2887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73FE9-1711-4EE9-919E-E57F3EA5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2887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CDF18-4F07-4DE7-8AB1-C3F09698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9CEDF-13C5-45DA-BB6E-742B0352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76550"/>
            <a:ext cx="1543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Centroid-SVD planes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1C852-FDEB-4829-8DEC-1ED7E585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7E826-B8C5-4D5A-A16A-8402BE29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527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C7393-0B96-4441-8071-A40E73DE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2887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FB292-D03F-4DBD-B2BD-D5D642C8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2887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F74DB-12C9-4238-98DE-36B63DE5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908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SCAFFOLD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C64AC-5569-4D1C-9AA3-EAA02CA3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76550"/>
            <a:ext cx="1543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Two anatomical references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4E0A5E-F81C-4ACD-AA10-CC43C4B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7B905-9ECE-4749-9833-A4AAE070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527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EF65B-CFE5-40E4-B1F7-7DB85FAC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2887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D37D7-1DA4-46DC-B633-E658098A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2887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EAE755-8461-4E7D-8389-7858F108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1FD83-49DA-449C-BCA2-CA8E7B8F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76550"/>
            <a:ext cx="1543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Ellipsoid n =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C770C4-7B7D-4CD3-AEAA-25844C24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242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77E9D4-FB13-4B87-BD9C-59383665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527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A98136-3D92-4B14-8530-E225B68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2887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75B36C-5C61-46EA-ABDD-DCF73844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2887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957FF3-B245-46EC-B2C2-3FDC61F5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908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D2998C-096D-4227-9124-5AD971E2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76550"/>
            <a:ext cx="1543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Hashes + geometry guards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7506D6-623A-4825-BCD8-CFEE419A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F32E2C-8771-4413-9F34-02897742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1313CF-432B-49FD-91DF-B3A2413B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52975"/>
            <a:ext cx="960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34A"/>
                </a:solidFill>
                <a:latin typeface="Aptos"/>
                <a:ea typeface="Aptos"/>
                <a:cs typeface="Aptos"/>
              </a:rPr>
              <a:t>One global rigid canonical display transform · no projection · no deformation · no synthetic coronary geometry</a:t>
            </a:r>
          </a:p>
        </p:txBody>
      </p:sp>
    </p:spTree>
    <p:extLst>
      <p:ext uri="{BB962C8B-B14F-4D97-AF65-F5344CB8AC3E}">
        <p14:creationId xmlns:p14="http://schemas.microsoft.com/office/powerpoint/2010/main" val="12547396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06054-B889-4DCB-88AF-E4D88B5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E2084-069D-4818-9461-45F8FB7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9ACDD-4A1D-4B59-8F25-3F4C1B76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T R U S T   C O N T R A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3FAB1-4EA3-4412-AB05-1F3963D7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Stage‑1 is successful only if geometry, terminology, and scientific claims stay bounded.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EF95A-AD45-4D44-8498-9A279CB5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86DA0-2DDC-47C3-8BA8-727577D9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05EE2-C500-48B3-BE02-5B967A3C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677CF-C5F6-4737-A19A-7FA3BD8F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34A"/>
                </a:solidFill>
                <a:latin typeface="Aptos"/>
                <a:ea typeface="Aptos"/>
                <a:cs typeface="Aptos"/>
              </a:rPr>
              <a:t>PRESERVE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D374D-3039-49B4-AAF3-FC750D1D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0977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19B5E-B2E3-450B-8545-C2C4E64A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14525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Source coordinates, segment lengths, file hashes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CAB62-1FA3-4454-9FEE-C053DB11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7B8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16EB4-6FFB-475B-A0ED-6EF5A01D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622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46292-0EDD-437A-8F02-6CDF33A6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6700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True centroid-SVD planes; measurement ≠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7BBEF-704A-4B24-BCFD-75BB4D53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0F118-6D8F-4796-A530-45DC37A6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1472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1C76F-957D-4291-A316-C2733D27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19475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Solid observed intervals; dashed extrapolated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1349A-B5C4-42DE-A201-09C106EA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77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7700"/>
                </a:solidFill>
                <a:latin typeface="Aptos"/>
                <a:ea typeface="Aptos"/>
                <a:cs typeface="Aptos"/>
              </a:rPr>
              <a:t>PARAMETERIZE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316D3-C367-42ED-B8B0-49129D5A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672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FF7C5-4264-4552-B8B7-BE690667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7195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Surface dimensions from saved scaffold measurements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C040B-1EE7-4B16-A0FD-290B8936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2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2D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9E2EA-1EC1-4BAE-9D91-89BB6DA3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1967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21EFE-EFA9-4BA0-A60F-553BB3D2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24425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No vessel synthesis, radii, disease, motion, tubes, or meshes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71476-CE58-4B40-9EAD-B5A7FBD8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43095-D671-403D-9221-38886006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67802-48C2-4C36-8EE1-C6D0A0D8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5310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This is a dataset-derived parametric anatomical support scaffold, not a patient-specific myocardial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1108879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E60F4E-9447-4E4C-96B3-57FDDCCD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BC033-54B4-42CF-914A-F6887DB6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B8ED3-9FDD-4FA0-BB76-C02B5521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I M M U T A B L E   S O U R C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C1AFF-6ACE-47D7-BF22-B7FF1F54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The anatomy shown here is the dataset evidence—not a regenerated coronary tree.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2B4B5-66B4-421E-8473-978F4157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B0698-9D67-41BD-A144-99DA4C7E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688B4-0DD9-4103-95EF-8A7C21D2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7C4D6-DBDF-49B8-A355-69E30DC2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09725"/>
            <a:ext cx="73342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2632a930d4d5f"/>
          <a:stretch xmlns:a="http://schemas.openxmlformats.org/drawingml/2006/main"/>
        </p:blipFill>
        <p:spPr>
          <a:xfrm xmlns:a="http://schemas.openxmlformats.org/drawingml/2006/main">
            <a:off x="1554147" y="1657350"/>
            <a:ext cx="5235606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A6AD8-8263-4610-B769-F095B64B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764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29831-BDCA-4D61-9697-A8C88BF8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57400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D83F2-7774-40BC-9B37-B8547EBE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4792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LMCA 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CB75B-54DE-444D-B356-10CD7E7D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2890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unchanged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BE4E0-7C45-422B-8886-A3EDC5AD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289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7C28B-6FB1-4DB2-AD4D-A11FD5AB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009900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352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AB6E4-5F78-46F4-854D-A0C00B01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0042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LAD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8D33C-D31F-4F58-B88E-6360136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8140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unchanged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086D5-3D2F-4944-9DE9-38105C78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814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32E9E-284A-493F-94E9-5736BEC8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62400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187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5760F-CF28-449F-A295-9C1065A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35292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LCX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67009-68C4-444F-B231-F2C9A1B9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3390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unchanged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72E65-4420-4218-9056-CCC8FE8C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339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6DF72-601C-413F-8991-D801A2BB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914900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249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A9F2D-8165-4D9A-80A8-476A2BE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0542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inferred RCA candidate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64279-FCF6-4865-BF52-CC2D55DB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48640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not annotated ground truth</a:t>
            </a:r>
          </a:p>
        </p:txBody>
      </p:sp>
    </p:spTree>
    <p:extLst>
      <p:ext uri="{BB962C8B-B14F-4D97-AF65-F5344CB8AC3E}">
        <p14:creationId xmlns:p14="http://schemas.microsoft.com/office/powerpoint/2010/main" val="4115531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2F4C6-EC06-4B31-A7FE-EE9DC6A6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037B6-F230-4CA3-ABBC-D532F64E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E08BA-31F1-4247-A32B-BCEE94C6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M E A S U R E M E N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9E97E-C6A3-4504-A94E-E7CC71F2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Centroid-SVD planes remain anchored to their true fitted centroids.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7363A-9105-4FC1-9879-0262FFB0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76B01-0409-4C00-AF3F-87CA058E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E6510-3AAE-4059-9401-D5796AFA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E9D4F-70EE-4D5C-A145-0CD6C681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09725"/>
            <a:ext cx="73342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7766826434d02"/>
          <a:stretch xmlns:a="http://schemas.openxmlformats.org/drawingml/2006/main"/>
        </p:blipFill>
        <p:spPr>
          <a:xfrm xmlns:a="http://schemas.openxmlformats.org/drawingml/2006/main">
            <a:off x="606705" y="1657350"/>
            <a:ext cx="713049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204FE-397F-4C25-92FB-284A08EA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B8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1677B8"/>
                </a:solidFill>
                <a:latin typeface="Aptos Mono"/>
                <a:ea typeface="Aptos Mono"/>
                <a:cs typeface="Aptos Mono"/>
              </a:rPr>
              <a:t>C = mean(pᵢ)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E3ED8-0122-4B2A-BC10-438814A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4212B"/>
                </a:solidFill>
                <a:latin typeface="Aptos Mono"/>
                <a:ea typeface="Aptos Mono"/>
                <a:cs typeface="Aptos Mono"/>
              </a:rPr>
              <a:t>Q = pᵢ −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EDD20-B1FB-4656-A457-5DEC2B6F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4212B"/>
                </a:solidFill>
                <a:latin typeface="Aptos Mono"/>
                <a:ea typeface="Aptos Mono"/>
                <a:cs typeface="Aptos Mono"/>
              </a:rPr>
              <a:t>UΣVᵀ = SVD(Q)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58AAF-EE37-4CCE-8E70-410D055D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4212B"/>
                </a:solidFill>
                <a:latin typeface="Aptos Mono"/>
                <a:ea typeface="Aptos Mono"/>
                <a:cs typeface="Aptos Mono"/>
              </a:rPr>
              <a:t>n = Vᵀ[−1]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D9777-B0BE-4844-B6D4-40114B8E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FF97F-7526-4BC4-B9C8-FACAA328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548F9-E057-439D-A6E8-C6F263B1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0025"/>
            <a:ext cx="293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7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7700"/>
                </a:solidFill>
                <a:latin typeface="Aptos"/>
                <a:ea typeface="Aptos"/>
                <a:cs typeface="Aptos"/>
              </a:rPr>
              <a:t>Plane equation</a:t>
            </a:r>
          </a:p>
          <a:p xmlns:a="http://schemas.openxmlformats.org/drawingml/2006/main">
            <a:pPr algn="l">
              <a:defRPr sz="1050" b="1">
                <a:solidFill>
                  <a:srgbClr val="E677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7700"/>
                </a:solidFill>
                <a:latin typeface="Aptos"/>
                <a:ea typeface="Aptos"/>
                <a:cs typeface="Aptos"/>
              </a:rPr>
              <a:t>n · (x − C) =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FAB00-1F33-4987-9F0C-34C73B8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C9FD1-0233-4CBC-BBFC-8F220DE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29200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≤ 4.2e−15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DD75A-35D7-4651-8097-DB91D48B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1972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mesh-centroid agreement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3366B-81DA-43D2-97A0-84F0DAD6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007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numerical precision</a:t>
            </a:r>
          </a:p>
        </p:txBody>
      </p:sp>
    </p:spTree>
    <p:extLst>
      <p:ext uri="{BB962C8B-B14F-4D97-AF65-F5344CB8AC3E}">
        <p14:creationId xmlns:p14="http://schemas.microsoft.com/office/powerpoint/2010/main" val="21097281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D868C-9597-453F-814A-87C88419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6EC8D-8B80-40A4-BF65-C1F17799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4AE32-B7DE-4C5E-9971-EC90D2A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P L A N E   R E L A T I O N S H I 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8362B-F270-480C-B0FD-8592830C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Two non-parallel measurements encode crown and apex roles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1E92C-0433-4690-B081-46DDB848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8F75E-8FD0-43C1-8D6A-34771BB8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CBA80-892F-4D05-8DBF-3CDF478E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0E2BC-06CA-4F60-8A91-648AA5F2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6477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876e175d94fa5"/>
          <a:stretch xmlns:a="http://schemas.openxmlformats.org/drawingml/2006/main"/>
        </p:blipFill>
        <p:spPr>
          <a:xfrm xmlns:a="http://schemas.openxmlformats.org/drawingml/2006/main">
            <a:off x="552450" y="1811667"/>
            <a:ext cx="6381750" cy="409191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388AA-E000-418F-A7E0-9DC4AC7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C537D-6B22-4C9D-A9F5-755ACD3E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3305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1.631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FBB97-4C48-4323-8671-410E2D96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3305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coronary plane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187DB-7669-44A2-8FDF-A9DA2675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3305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LCX + inferred RCA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453BD-28C8-4464-BD0D-94F1BB6C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861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F3C5A-40ED-4117-9A33-40E3BD08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3305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3.427 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24749-447D-440A-B3B8-BA7D970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3305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LAD plane RMSE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84B3F-4D08-4CCA-AE3D-DCBEB5DE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38550"/>
            <a:ext cx="3305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descending trajectory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FDE85-9257-4D40-AF26-4FF296B8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338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D97EA-11B5-4636-A0DD-C6FE8544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14800"/>
            <a:ext cx="3305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65.56°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1D86D-822D-4BF3-9403-2D3B17A3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05325"/>
            <a:ext cx="3305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acute plane-normal separation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6CBCE-99F8-4DAD-838D-678BFD20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86300"/>
            <a:ext cx="3305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distinct anatomical roles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1F62E-B5CE-45E9-B843-ACF8628B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19700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D36CD-81E3-4237-A35E-227134C6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197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B3859-9088-4DD1-A24E-A275D8A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B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B24"/>
                </a:solidFill>
                <a:latin typeface="Aptos"/>
                <a:ea typeface="Aptos"/>
                <a:cs typeface="Aptos"/>
              </a:rPr>
              <a:t>No plane is forced through the bifurcation. Display planes, if added later, must remain explicitly separate.</a:t>
            </a:r>
          </a:p>
        </p:txBody>
      </p:sp>
    </p:spTree>
    <p:extLst>
      <p:ext uri="{BB962C8B-B14F-4D97-AF65-F5344CB8AC3E}">
        <p14:creationId xmlns:p14="http://schemas.microsoft.com/office/powerpoint/2010/main" val="11547195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7A1676-0E96-493F-B0B0-391AAAF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0CE41-58F1-4EEC-8C24-4ED55654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FDE6B-098A-45B5-A7F6-F23FAA6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A N A T O M I C A L   S C A F F O L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0EC51-1722-4B57-90DC-9F11F837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Two measured reference ellipses establish crown and long-axis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DD50-C1BC-493C-BFC1-1EA5B521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EF574-7408-4537-A6BB-FD0D7ABB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4EDF7-6AF1-4622-B789-3DD0560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5CD2D-B7D9-4B74-98AD-AB7F95E5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09725"/>
            <a:ext cx="73342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17cdbb49b4656"/>
          <a:stretch xmlns:a="http://schemas.openxmlformats.org/drawingml/2006/main"/>
        </p:blipFill>
        <p:spPr>
          <a:xfrm xmlns:a="http://schemas.openxmlformats.org/drawingml/2006/main">
            <a:off x="861871" y="1657350"/>
            <a:ext cx="6620157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46E1A-E211-4C93-A18C-10990873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968CC-B9DB-4F64-AB87-B68ECEF7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98.52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72441-0F66-4F7E-800B-8C41BEAF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6222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scaffold crown span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8593E-A872-4A17-91BD-C6EA3F84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2 × measured crown radius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70C85-0F36-47D0-A843-61F225B7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A83C8-5D74-4DE2-8B12-84DFB2BF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623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93.19 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1D753-9E0F-4BFA-8C25-CCCB6DA3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scaffold long-axis span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790F4-A4D0-477B-89ED-820E4A33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2 × measured apical radius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B0C88-92FF-42F7-BBE3-2F2F7AD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EEAF2-6CFD-4DCA-9DE5-8326DC1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71.79 mm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A5666-4F47-4B1C-B928-C4F2A6E9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4347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scaffold crown depth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80DAA-8DAA-4E5E-BB0C-D190B59D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24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2 × measured minor radius</a:t>
            </a:r>
          </a:p>
        </p:txBody>
      </p:sp>
    </p:spTree>
    <p:extLst>
      <p:ext uri="{BB962C8B-B14F-4D97-AF65-F5344CB8AC3E}">
        <p14:creationId xmlns:p14="http://schemas.microsoft.com/office/powerpoint/2010/main" val="15904429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01ED7F-BD71-47CE-883A-F77F9CC1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6D268-C850-4FF7-B39C-DA8633C4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69F73-2DDE-4869-B456-FE4110B5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E V I D E N C E   B O U N D A R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23923-F4E0-4163-AD4F-442BF0F2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Line style makes observation and extrapolation impossible to confuse.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98635-D9ED-4837-9089-F75560FB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38FE7-6B10-4C5F-9365-92AF63B9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0EBA0-9853-4F03-8ADC-396922B3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BEA0B-D366-407B-A9A7-1B60836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09725"/>
            <a:ext cx="73342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57323779945cd"/>
          <a:stretch xmlns:a="http://schemas.openxmlformats.org/drawingml/2006/main"/>
        </p:blipFill>
        <p:spPr>
          <a:xfrm xmlns:a="http://schemas.openxmlformats.org/drawingml/2006/main">
            <a:off x="993744" y="1657350"/>
            <a:ext cx="6356412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90B6A-CF57-477C-9D99-E2A9AF4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1181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8BC91-1699-41D4-B503-436B589A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52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SOLID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59300-79A8-45FD-8C39-503DAC4E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source-supported interval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C2EF2-758D-4EFB-A58D-96CFD86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161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DF2D2-4C2D-49FA-923B-B7E9EE0A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4250"/>
            <a:ext cx="161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976F3-CCBF-4F21-A078-E5C91BA7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24250"/>
            <a:ext cx="161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6DEEB-01E5-4D96-85A2-27E57173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24250"/>
            <a:ext cx="161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2153C-1E07-4C40-AF70-8EB5CEDA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24250"/>
            <a:ext cx="1619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FD342-4EEC-49E6-8587-531342B4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71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7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67700"/>
                </a:solidFill>
                <a:latin typeface="Aptos"/>
                <a:ea typeface="Aptos"/>
                <a:cs typeface="Aptos"/>
              </a:rPr>
              <a:t>DASHED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CA7C8-C050-4FD7-927E-FCA3DB51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extrapolated parametric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BE445-BDE6-4833-83CF-3FE1395C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09957-AFF0-46CC-B633-958C1C02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47FE0-EB7F-4AA4-B92D-8AD77C18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2D2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2D"/>
                </a:solidFill>
                <a:latin typeface="Aptos"/>
                <a:ea typeface="Aptos"/>
                <a:cs typeface="Aptos"/>
              </a:rPr>
              <a:t>Extrapolated portions are scaffold geometry—not observed vessels.</a:t>
            </a:r>
          </a:p>
        </p:txBody>
      </p:sp>
    </p:spTree>
    <p:extLst>
      <p:ext uri="{BB962C8B-B14F-4D97-AF65-F5344CB8AC3E}">
        <p14:creationId xmlns:p14="http://schemas.microsoft.com/office/powerpoint/2010/main" val="14070465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48BB55-C34E-486F-81EA-B836EE8F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243B6-4B08-4483-B58E-BC7C289C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ED18C-C814-4DA9-AB1D-04D1D767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P A R A M E T R I C   S U R F A C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840FF-2B7B-4713-BBBA-85FCB9D1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Saved scaffold spans parameterize a reusable ellipsoidal support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29F8A-6220-4389-934C-188E429C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23F4A-8403-442B-BC1B-203AAEAB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BD5A7-8BAE-4DBE-8FF4-EB40B369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1C641-C166-42E3-885D-D2E6822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09725"/>
            <a:ext cx="73342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74aa332994c20"/>
          <a:stretch xmlns:a="http://schemas.openxmlformats.org/drawingml/2006/main"/>
        </p:blipFill>
        <p:spPr>
          <a:xfrm xmlns:a="http://schemas.openxmlformats.org/drawingml/2006/main">
            <a:off x="821739" y="1657350"/>
            <a:ext cx="6700421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2B93E-1C43-4113-9BF4-131CB2FA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38350"/>
            <a:ext cx="3381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B24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0F1B24"/>
                </a:solidFill>
                <a:latin typeface="Aptos Mono"/>
                <a:ea typeface="Aptos Mono"/>
                <a:cs typeface="Aptos Mono"/>
              </a:rPr>
              <a:t>(x/a)² + (y/b)² + (z/c)²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6A88E-1B20-4C32-A5D4-8561097B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944D2-28D6-4240-AEDE-017AC5DD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38450"/>
            <a:ext cx="2924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49.26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30770-EDBE-47A3-BF9F-5AA5C758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924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a · crown semi-axis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4725F-0C54-4DCD-8237-300DAE0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54F74-46C0-421A-A6A7-0FE078D9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38575"/>
            <a:ext cx="2924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35.89 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0394C-FD27-4ACE-A3A0-7578818A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2924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b · crown-depth semi-axis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4AA47-EF91-4A3B-A767-9E8B03D8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7B121-B33C-4A1F-9C12-F50BC0BC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2924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46.60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34FBF-DCAB-46F0-A74B-909DA08C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29225"/>
            <a:ext cx="2924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c · long-axis semi-axis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2DA5C-A83D-464F-BB28-56750EB8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10200"/>
            <a:ext cx="2924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baseline exponent n = 2</a:t>
            </a:r>
          </a:p>
        </p:txBody>
      </p:sp>
    </p:spTree>
    <p:extLst>
      <p:ext uri="{BB962C8B-B14F-4D97-AF65-F5344CB8AC3E}">
        <p14:creationId xmlns:p14="http://schemas.microsoft.com/office/powerpoint/2010/main" val="9577849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33C2AD-AEF7-4881-9162-10F5DAAC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5C475-4DDD-4981-B39B-143706E8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8754A-B267-4480-BFA6-4CC37CA0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D I A G N O S T I C — N O T   A   L O S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219AA-0653-492D-90A4-EFCDF9EA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Surface distance quantifies mismatch; it never moves or rejects a source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87235-F021-4CA2-927F-54C8DDA4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12034-4340-439A-87D5-C367A92A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60351-E6BF-4961-A2BA-61B8B4FF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8084B-C803-4C9E-BB6F-8D3804D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09725"/>
            <a:ext cx="676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68bcb38534c68"/>
          <a:stretch xmlns:a="http://schemas.openxmlformats.org/drawingml/2006/main"/>
        </p:blipFill>
        <p:spPr>
          <a:xfrm xmlns:a="http://schemas.openxmlformats.org/drawingml/2006/main">
            <a:off x="734627" y="1657350"/>
            <a:ext cx="6303146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7B6C7-61DD-4A7E-A331-302E7748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573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SOURCE → SURFACE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4615-A4E3-41D4-9582-2FDD9FE8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2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2D"/>
                </a:solidFill>
                <a:latin typeface="Aptos"/>
                <a:ea typeface="Aptos"/>
                <a:cs typeface="Aptos"/>
              </a:rPr>
              <a:t>LAD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CAD4C-C31C-4479-8D17-0DC098C8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1955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69CEE-D5B7-4335-8AEC-A2AD0EC0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526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23.05 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7EFCC-A082-4C1A-943C-6CD6FB52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67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B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B24"/>
                </a:solidFill>
                <a:latin typeface="Aptos"/>
                <a:ea typeface="Aptos"/>
                <a:cs typeface="Aptos"/>
              </a:rPr>
              <a:t>LMCA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EC986-B5FF-47BE-93E2-E9ECAB64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12906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4A426-8CC9-4BB4-BCA0-3942D34D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5752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13.55 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12B16-9A54-4EB1-8A80-7B9CA2D5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719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56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56A8"/>
                </a:solidFill>
                <a:latin typeface="Aptos"/>
                <a:ea typeface="Aptos"/>
                <a:cs typeface="Aptos"/>
              </a:rPr>
              <a:t>RCA*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475F6-B38C-4046-A4D9-EB33273E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100203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71CB1-0ED8-45B9-B26B-18300BCE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623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10.52 mm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46507-743E-41C0-821D-5DF2570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76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7B8"/>
                </a:solidFill>
                <a:latin typeface="Aptos"/>
                <a:ea typeface="Aptos"/>
                <a:cs typeface="Aptos"/>
              </a:rPr>
              <a:t>LCX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B4728-1B38-4F5A-A15D-BD6545E3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8143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3B298-0770-4A58-8B02-D405F1E1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6722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8.55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318D3-0D2C-4616-A079-DC7138E1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8637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F27C6C-7E81-4C9D-9DD8-80F0A030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863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A1ED9-26EA-4E68-A2BF-609F0E1F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419725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2D2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2D"/>
                </a:solidFill>
                <a:latin typeface="Aptos"/>
                <a:ea typeface="Aptos"/>
                <a:cs typeface="Aptos"/>
              </a:rPr>
              <a:t>LAD mismatch is deliberately visible: the baseline surface is anatomical support, not a close vessel-fit model.</a:t>
            </a:r>
          </a:p>
        </p:txBody>
      </p:sp>
    </p:spTree>
    <p:extLst>
      <p:ext uri="{BB962C8B-B14F-4D97-AF65-F5344CB8AC3E}">
        <p14:creationId xmlns:p14="http://schemas.microsoft.com/office/powerpoint/2010/main" val="13088773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BF6086-3AF5-4033-A9F0-DF58907B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89B82-2BA2-4E29-8404-25E4FD4B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9FC7F-F323-4A88-928A-C7C302F9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C A N O N I C A L   R E V I E 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BB824-F1E9-4CDD-A3CF-54E0DA81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Three orthographic views expose anatomical role and residual mismatch.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EA1FD-7A0A-465B-B627-6B1EEA78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212A3-D7B5-4B49-99A9-1E84881B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48CC7-BCA5-403E-A40B-A45F59F6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7E808-6EA3-4072-A0A1-C50233C4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04975"/>
            <a:ext cx="3524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180040e964943"/>
          <a:stretch xmlns:a="http://schemas.openxmlformats.org/drawingml/2006/main"/>
        </p:blipFill>
        <p:spPr>
          <a:xfrm xmlns:a="http://schemas.openxmlformats.org/drawingml/2006/main">
            <a:off x="552450" y="2586755"/>
            <a:ext cx="3429000" cy="176069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00BB7-AB58-46A9-990B-6524662B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04975"/>
            <a:ext cx="3524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a78ff06d8424b"/>
          <a:stretch xmlns:a="http://schemas.openxmlformats.org/drawingml/2006/main"/>
        </p:blipFill>
        <p:spPr>
          <a:xfrm xmlns:a="http://schemas.openxmlformats.org/drawingml/2006/main">
            <a:off x="4381500" y="2587916"/>
            <a:ext cx="3429000" cy="1758369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956D6-2C28-4F9C-9986-75941554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04975"/>
            <a:ext cx="3524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349c04dee4c98"/>
          <a:stretch xmlns:a="http://schemas.openxmlformats.org/drawingml/2006/main"/>
        </p:blipFill>
        <p:spPr>
          <a:xfrm xmlns:a="http://schemas.openxmlformats.org/drawingml/2006/main">
            <a:off x="8210550" y="2594818"/>
            <a:ext cx="3429000" cy="1744563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C9B5A-312D-40B6-B8B8-D49A7921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SUPERIOR · crown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EC87A-A727-4566-8898-23E71AEB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53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77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7700"/>
                </a:solidFill>
                <a:latin typeface="Aptos"/>
                <a:ea typeface="Aptos"/>
                <a:cs typeface="Aptos"/>
              </a:rPr>
              <a:t>FRONT · long axis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D434D-89D7-4234-B649-64251A55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53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7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7B8"/>
                </a:solidFill>
                <a:latin typeface="Aptos"/>
                <a:ea typeface="Aptos"/>
                <a:cs typeface="Aptos"/>
              </a:rPr>
              <a:t>LATERAL · 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9F126-8476-443E-9D19-56AE1D33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38825"/>
            <a:ext cx="689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3B9A9-FACA-4B1A-A405-7ABB837B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38825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FAAE6-5A38-426C-834A-DE3B2383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72175"/>
            <a:ext cx="659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B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B24"/>
                </a:solidFill>
                <a:latin typeface="Aptos"/>
                <a:ea typeface="Aptos"/>
                <a:cs typeface="Aptos"/>
              </a:rPr>
              <a:t>Canonical X = crown · Y = crown depth · Z = superior (+) / apex (−)</a:t>
            </a:r>
          </a:p>
        </p:txBody>
      </p:sp>
    </p:spTree>
    <p:extLst>
      <p:ext uri="{BB962C8B-B14F-4D97-AF65-F5344CB8AC3E}">
        <p14:creationId xmlns:p14="http://schemas.microsoft.com/office/powerpoint/2010/main" val="5877275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FBE3AF-1C5F-4F6E-9A8B-E7E067A1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F5CE8-8B26-40E8-8786-69448991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83020-D1A5-4F4E-9CC8-4E5E1C5D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F U T U R E   A R C H I T E C T U R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0AEBF-1775-4E76-A373-21F1F721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Stage‑C should generate trajectories in surface-relative coordinates—not Cartesian templates.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CDDCE-65E0-4713-B9DA-74DC7275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5BED8-3136-47D6-A576-0E75A1F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D5456-40BD-4EB8-AB67-E79DE8DA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33A34-8235-401C-98C7-D8437854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952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9525">
            <a:solidFill>
              <a:srgbClr val="0F1B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88A3B-7073-4FAE-AA48-E33126DF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952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C815E-D226-4972-9BB3-CD8E8329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685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SCaffold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44489-D846-4F88-8FDE-91337CAC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6859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9D3D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9D3DA"/>
                </a:solidFill>
                <a:latin typeface="Aptos"/>
                <a:ea typeface="Aptos"/>
                <a:cs typeface="Aptos"/>
              </a:rPr>
              <a:t>u, v, normal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958DB-51BE-40C8-8BF2-1C91CEF9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6FFA7-DF0B-4C73-BA5F-0F4408FA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432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BB79E-3675-4215-A909-16FEF67A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81250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341AB-3B46-4F03-9D1E-D8C64639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812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FC2AD-9215-4B5A-82A0-041FB47E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43175"/>
            <a:ext cx="1971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TRAJECTORY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FA66F-EC5C-4246-BBF2-58D75AAF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28925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θ(s), φ(s), offset(s)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5645E-8C8A-45EA-BD76-7CF0A4B0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146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D4F61-7147-4095-97A2-7FE8DB29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432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30C3C-59ED-4BCD-9801-5866D7A4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2047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3B53D-9615-43F0-ADC8-75411E2C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204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3A402-923C-4F31-9A8C-3D72B9CC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1781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BRANCH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E6AE7-7333-4439-A3AF-86F17CE7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28925"/>
            <a:ext cx="17811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tree + continuity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E8AD06-E95A-4C25-873B-C3F30031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9146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BCBAE-2B99-47B8-AA5A-AA8B687A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432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0C14C-B8B4-475E-BBAB-388C867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047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7156AD-9602-4A72-A455-86D1704C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04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A88D5D-1607-499B-B532-51160D3A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43175"/>
            <a:ext cx="1781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GEOMETRY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1FCAEB-8626-4044-94E0-FEA8DD80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28925"/>
            <a:ext cx="17811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centerline candidates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48F01B-2A8D-4781-A11C-7A009F3F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BBA45-3D4D-440B-8D6D-6C002921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432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06DB19-0FAF-4381-816D-EC23F10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81250"/>
            <a:ext cx="1123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25B7A8-4DCA-4711-9542-8715F8B9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812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239004-E401-46D2-9F47-8B41B2BE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431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EF4B7B-5A07-456C-82CA-B5FE56C0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28925"/>
            <a:ext cx="857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anatomy + integrity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78BD4C-A26E-44F6-9682-EEC4C16C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34A"/>
                </a:solidFill>
                <a:latin typeface="Aptos"/>
                <a:ea typeface="Aptos"/>
                <a:cs typeface="Aptos"/>
              </a:rPr>
              <a:t>A/B COMPLETE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11E5C4-8089-44CE-B9B9-69E83755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00550"/>
            <a:ext cx="871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C–H FUTURE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56056E-55BF-4CB8-AC31-7430D101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866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911816-4584-4974-B7DB-2BA68BAF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91E9CA-9019-40A7-85CE-45576214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229225"/>
            <a:ext cx="836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Surface API already exposes point, normal, coordinate conversion, nearest point, and distance.</a:t>
            </a:r>
          </a:p>
        </p:txBody>
      </p:sp>
    </p:spTree>
    <p:extLst>
      <p:ext uri="{BB962C8B-B14F-4D97-AF65-F5344CB8AC3E}">
        <p14:creationId xmlns:p14="http://schemas.microsoft.com/office/powerpoint/2010/main" val="866679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30B9D-B086-4C3D-A470-5157B244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D9BB8-8285-47B3-A472-3C3E362C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A98F8-B713-4895-9D26-76545A98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V T K   O W N E R S H I 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4A25F-3404-4753-B9E9-F3F05A29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Five multiblocks separate source, scaffold, surface, and complete-model concerns.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89AF1-8444-40A7-995F-1A0CD1F5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386AE-6652-459D-A0B7-5235FEA4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702BC-D6EF-481C-A762-7F2885E0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92330-5E3A-4158-B2AF-CBB2CFBF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9525">
            <a:solidFill>
              <a:srgbClr val="0F1B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43532-218E-4DF9-8587-46835499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AA847-37DF-4664-A936-D2CAE6AE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STAGE1 COMPLETE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D6049-ACCA-441E-BB36-185CC4A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9D3D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9D3DA"/>
                </a:solidFill>
                <a:latin typeface="Aptos"/>
                <a:ea typeface="Aptos"/>
                <a:cs typeface="Aptos"/>
              </a:rPr>
              <a:t>13 named blocks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EAAC2-A8ED-406C-99C2-A683A05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F4A8B-A9D8-4620-AC6F-C537597A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838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B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B24"/>
                </a:solidFill>
                <a:latin typeface="Aptos"/>
                <a:ea typeface="Aptos"/>
                <a:cs typeface="Aptos"/>
              </a:rPr>
              <a:t>SOURCE CENTERLINES</a:t>
            </a:r>
          </a:p>
          <a:p xmlns:a="http://schemas.openxmlformats.org/drawingml/2006/main">
            <a:pPr algn="l">
              <a:defRPr sz="975" b="1">
                <a:solidFill>
                  <a:srgbClr val="0F1B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B24"/>
                </a:solidFill>
                <a:latin typeface="Aptos"/>
                <a:ea typeface="Aptos"/>
                <a:cs typeface="Aptos"/>
              </a:rPr>
              <a:t>LMCA · LAD · LCX · RCA* · bifurcation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2C0AC-FA3F-40B2-81AB-CB8BCD61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5 blocks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34C51-C854-454D-AD56-5143B71A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90E0F-5C82-430A-973A-F27977A2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838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7B8"/>
                </a:solidFill>
                <a:latin typeface="Aptos"/>
                <a:ea typeface="Aptos"/>
                <a:cs typeface="Aptos"/>
              </a:rPr>
              <a:t>MEASUREMENT PLANES</a:t>
            </a:r>
          </a:p>
          <a:p xmlns:a="http://schemas.openxmlformats.org/drawingml/2006/main">
            <a:pPr algn="l">
              <a:defRPr sz="975" b="1">
                <a:solidFill>
                  <a:srgbClr val="1677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7B8"/>
                </a:solidFill>
                <a:latin typeface="Aptos"/>
                <a:ea typeface="Aptos"/>
                <a:cs typeface="Aptos"/>
              </a:rPr>
              <a:t>coronary centroid-SVD · LAD centroid-SVD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4D965-B255-4A33-B9F3-7148175E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57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2 blocks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2F6C2-503C-4BA7-B4A8-171C3725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D496D-42CF-4868-9809-B0C8064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838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REFERENCE SCAFFOLD</a:t>
            </a:r>
          </a:p>
          <a:p xmlns:a="http://schemas.openxmlformats.org/drawingml/2006/main">
            <a:pPr algn="l">
              <a:defRPr sz="975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two ellipses · three axes · bifurcation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F8623-6329-43D4-9F5E-8D5ABD2B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386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7 blocks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3536B-0CEA-42F6-AD1A-A54B3AEA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ED68F-A7DF-4607-8902-34A2269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838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77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7700"/>
                </a:solidFill>
                <a:latin typeface="Aptos"/>
                <a:ea typeface="Aptos"/>
                <a:cs typeface="Aptos"/>
              </a:rPr>
              <a:t>PARAMETRIC SURFACE</a:t>
            </a:r>
          </a:p>
          <a:p xmlns:a="http://schemas.openxmlformats.org/drawingml/2006/main">
            <a:pPr algn="l">
              <a:defRPr sz="975" b="1">
                <a:solidFill>
                  <a:srgbClr val="E677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7700"/>
                </a:solidFill>
                <a:latin typeface="Aptos"/>
                <a:ea typeface="Aptos"/>
                <a:cs typeface="Aptos"/>
              </a:rPr>
              <a:t>triangular VTP · n=2 · normals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7F704-F1F3-4861-80C7-12FC6E83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81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1 block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9EC61-27D1-4E2A-B9A8-057A6EB3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2C406-2959-441A-8C51-A6678AA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4AB8E8-8ACB-4CA0-9D5E-548263AA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6C1CA-CCC3-41EC-ABA7-07685261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58C0F5-5A91-445C-AE30-03F1A7D9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74761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43468F-3FA4-4596-B569-D9FBBF7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482CE-A103-49E7-99DA-B22D0AC9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50219-A84F-4153-B295-20A5FF36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V A L I D A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FC1FD-1082-4634-AFB3-BA7749EA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Every scientific and file-integrity guard passes for 189.label.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42C43-9807-499F-945A-53C2D2A4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028AA-F5E7-4C90-803A-74663DB2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E6BDF-E622-4B83-A436-0667267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A33F2-6A57-46D3-9983-67C91858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09725"/>
            <a:ext cx="73342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bf60f015940dc"/>
          <a:stretch xmlns:a="http://schemas.openxmlformats.org/drawingml/2006/main"/>
        </p:blipFill>
        <p:spPr>
          <a:xfrm xmlns:a="http://schemas.openxmlformats.org/drawingml/2006/main">
            <a:off x="552450" y="1890379"/>
            <a:ext cx="7239000" cy="410594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E0673-0A40-4053-8D32-26ADF349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FDC7D-E449-41A2-BAF7-58427DD3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0.000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2E92A-5603-489F-BAE1-7DBD2C25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47925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source coordinate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5DA8F-DFA1-4221-A672-56B3AF9F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E8491-488E-40B3-A129-EFE220CA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0.000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AFC09-FCE8-466D-88FE-5443F17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95675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original segment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74383-9B24-4319-8270-A017B87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6D526-5F88-40E6-8265-FBD4CD08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529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1.07e−14 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EB2F8-19EC-4E0B-A0DF-2EAA8095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43425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rigid-transform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26576-AFF8-4A01-B70B-6AADCC23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14950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19453-7379-4777-AFCB-F883DFE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149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2D965-FB54-471C-A711-237FA51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48300"/>
            <a:ext cx="3124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34A"/>
                </a:solidFill>
                <a:latin typeface="Aptos"/>
                <a:ea typeface="Aptos"/>
                <a:cs typeface="Aptos"/>
              </a:rPr>
              <a:t>PASS · source hashes unchanged · required VTK blocks present</a:t>
            </a:r>
          </a:p>
        </p:txBody>
      </p:sp>
    </p:spTree>
    <p:extLst>
      <p:ext uri="{BB962C8B-B14F-4D97-AF65-F5344CB8AC3E}">
        <p14:creationId xmlns:p14="http://schemas.microsoft.com/office/powerpoint/2010/main" val="17226652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575529-992C-4E3A-9516-AF627FF6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9B17A-9EF7-43A9-9C77-EE802AF3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463F6-5591-4337-BB07-C95C209D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2717D"/>
                </a:solidFill>
                <a:latin typeface="Aptos"/>
                <a:ea typeface="Aptos"/>
                <a:cs typeface="Aptos"/>
              </a:rPr>
              <a:t>L I M I T A T I O N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FACBD-F84B-4053-A9AF-F07456B5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4212B"/>
                </a:solidFill>
                <a:latin typeface="Georgia"/>
                <a:ea typeface="Georgia"/>
                <a:cs typeface="Georgia"/>
              </a:rPr>
              <a:t>The baseline is deliberately useful—and deliberately incomplete.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B907E-E386-4DC8-8E75-FA17F2C0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15645-9717-4880-9241-3F4CC8D2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189.label · Stage-1 anatomical scaffold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75DA7-74FD-499A-83ED-835FE0D6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24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17D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2717D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6E3B9-1DF2-47B4-9FDE-A4BA7E79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56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56A8"/>
                </a:solidFill>
                <a:latin typeface="Aptos"/>
                <a:ea typeface="Aptos"/>
                <a:cs typeface="Aptos"/>
              </a:rPr>
              <a:t>RCA*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496FF-63F1-4D77-B2A2-88DB827D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81175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Inferred candidate; not annotated RCA ground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1DA76-EBA7-4D8F-A049-FB63D370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C2AF5-B56A-4109-90A2-A03A4F4A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DIMENSIONS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4C08E-A846-472B-9EB3-B207448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9080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Coronary-derived scaffold scale is not myocardial 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3BFBF-B46E-448B-BED2-CF2936D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765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65A53-E556-4630-9CA7-B0F74C66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77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7700"/>
                </a:solidFill>
                <a:latin typeface="Aptos"/>
                <a:ea typeface="Aptos"/>
                <a:cs typeface="Aptos"/>
              </a:rPr>
              <a:t>ELLIPSE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A09F4-8FC0-4723-BBB8-6AC3692D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00425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Dashed portions are extrapolated parametric references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E16B0-91DF-49BD-9BC0-7ADF7C56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8E595-9104-4576-A1E9-6717573D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7B8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800A6-F662-4DDC-A7B6-803135F3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1005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Ellipsoid n=2 is support geometry, not clinical reconstruction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C2352-CA30-44CA-B50A-E5F4A7A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958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9B280-A362-49DE-B196-013F4503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2D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2D2D"/>
                </a:solidFill>
                <a:latin typeface="Aptos"/>
                <a:ea typeface="Aptos"/>
                <a:cs typeface="Aptos"/>
              </a:rPr>
              <a:t>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F91A4-F4CF-4314-A80B-E537C990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19675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2B"/>
                </a:solidFill>
                <a:latin typeface="Aptos"/>
                <a:ea typeface="Aptos"/>
                <a:cs typeface="Aptos"/>
              </a:rPr>
              <a:t>No synthetic coronary trajectories exist in Stage‑1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35AF6-4BFC-4523-ACF3-7F37E2C4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05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B458E-B2BF-42B4-BC31-32C265A3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B4CD8-023E-499E-9748-C65D8651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97FFFB-FAAC-4C67-9D0F-10D76CB0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14975"/>
            <a:ext cx="4029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B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B24"/>
                </a:solidFill>
                <a:latin typeface="Aptos"/>
                <a:ea typeface="Aptos"/>
                <a:cs typeface="Aptos"/>
              </a:rPr>
              <a:t>Distance diagnostics describe model mismatch; they are not acceptance thresholds for source anatomy.</a:t>
            </a:r>
          </a:p>
        </p:txBody>
      </p:sp>
    </p:spTree>
    <p:extLst>
      <p:ext uri="{BB962C8B-B14F-4D97-AF65-F5344CB8AC3E}">
        <p14:creationId xmlns:p14="http://schemas.microsoft.com/office/powerpoint/2010/main" val="197420056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5D662-191B-428B-9D2D-A17C937B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0A696-0CFC-407C-8C3C-BFE8EB39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204CD-E56F-4CEF-A775-7EF0A9AB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23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Stage‑1 is ready to support controlled Stage‑C trajectory research.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69748-EC47-4F82-83D4-1691FCF9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476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3"/>
          </a:solidFill>
          <a:ln xmlns:a="http://schemas.openxmlformats.org/drawingml/2006/main" w="9525">
            <a:solidFill>
              <a:srgbClr val="2740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56E16-C6DD-497A-825F-C959C302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FAFBF-9E2D-4FAF-B1ED-8525FF46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8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34A"/>
                </a:solidFill>
                <a:latin typeface="Aptos"/>
                <a:ea typeface="Aptos"/>
                <a:cs typeface="Aptos"/>
              </a:rPr>
              <a:t>IMMUTABLE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3C65F-692E-4F10-B3EF-0CD0BBEF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0.000 mm source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AC500-DB62-4703-A227-569A5A10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2476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3"/>
          </a:solidFill>
          <a:ln xmlns:a="http://schemas.openxmlformats.org/drawingml/2006/main" w="9525">
            <a:solidFill>
              <a:srgbClr val="2740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99D4F-131F-41E7-AAC6-F72CD874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23C52-779A-4D26-8E4D-BEB81BD4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67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MEASURED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9D183-B267-430B-A53C-013A6358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98.52 × 93.19 mm scaffold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C070D-CF1B-42B8-BD85-687BA2D2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2476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3"/>
          </a:solidFill>
          <a:ln xmlns:a="http://schemas.openxmlformats.org/drawingml/2006/main" w="9525">
            <a:solidFill>
              <a:srgbClr val="2740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F8B6B-CA9A-472A-BDF8-B814FD46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3EAF4-8D0D-4D67-9463-66CEF895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7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7B8"/>
                </a:solidFill>
                <a:latin typeface="Aptos"/>
                <a:ea typeface="Aptos"/>
                <a:cs typeface="Aptos"/>
              </a:rPr>
              <a:t>MODULAR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DFDB4-DB52-4F27-8FC6-410BFE56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38575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VTM assemblies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9CFFC-66B2-470C-8223-44E6D74A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38500"/>
            <a:ext cx="2476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3"/>
          </a:solidFill>
          <a:ln xmlns:a="http://schemas.openxmlformats.org/drawingml/2006/main" w="9525">
            <a:solidFill>
              <a:srgbClr val="2740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4C427-AD3A-4F25-ACBF-BD9B847A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385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1B52B-AB83-4416-8E13-0E544BE6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67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D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2D2D"/>
                </a:solidFill>
                <a:latin typeface="Aptos"/>
                <a:ea typeface="Aptos"/>
                <a:cs typeface="Aptos"/>
              </a:rPr>
              <a:t>HONEST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6548B-31A0-40D4-B271-F77C4A69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38575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LAD surface RMSE 23.05 mm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F18DB-EC55-40C1-BAB7-91EC7E48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3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4DE98-7246-4B32-92CB-795295E8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02C6B-CDA1-4310-835E-BCA75BE7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81600"/>
            <a:ext cx="8458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C8"/>
                </a:solidFill>
                <a:latin typeface="Aptos"/>
                <a:ea typeface="Aptos"/>
                <a:cs typeface="Aptos"/>
              </a:rPr>
              <a:t>Next: learn surface-relative coronary trajectories while preserving the same source-integrity contract.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79829-DEE1-4E3A-84B2-B35E67C7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1A5B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1A5B1"/>
                </a:solidFill>
                <a:latin typeface="Aptos"/>
                <a:ea typeface="Aptos"/>
                <a:cs typeface="Aptos"/>
              </a:rPr>
              <a:t>Dataset-derived parametric anatomical support scaffold · not a patient-specific myocardial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1621699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2026-08-08T09:08:16.1740000Z</dcterms:created>
  <dcterms:modified xsi:type="dcterms:W3CDTF">2026-08-08T09:08:16.1740000Z</dcterms:modified>
</coreProperties>
</file>