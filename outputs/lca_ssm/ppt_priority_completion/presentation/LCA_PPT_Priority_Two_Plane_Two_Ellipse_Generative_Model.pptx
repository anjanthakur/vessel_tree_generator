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a3a2d9f9b1400c" /><Relationship Type="http://schemas.openxmlformats.org/officeDocument/2006/relationships/extended-properties" Target="/docProps/app.xml" Id="R728dc3294eb141fa" /><Relationship Type="http://schemas.openxmlformats.org/officeDocument/2006/relationships/officeDocument" Target="/ppt/presentation.xml" Id="Rf9308f7344c043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0cc0280184cc9"/>
  </p:sldMasterIdLst>
  <p:notesMasterIdLst>
    <p:notesMasterId xmlns:r="http://schemas.openxmlformats.org/officeDocument/2006/relationships" r:id="R9d7d1afb06b649b0"/>
  </p:notesMasterIdLst>
  <p:sldIdLst>
    <p:sldId xmlns:r="http://schemas.openxmlformats.org/officeDocument/2006/relationships" id="256" r:id="R46947dd8246d4f12"/>
    <p:sldId xmlns:r="http://schemas.openxmlformats.org/officeDocument/2006/relationships" id="257" r:id="Re2620a04a796416e"/>
    <p:sldId xmlns:r="http://schemas.openxmlformats.org/officeDocument/2006/relationships" id="258" r:id="R17f58d3384d94947"/>
    <p:sldId xmlns:r="http://schemas.openxmlformats.org/officeDocument/2006/relationships" id="259" r:id="Ref3c1d47084d4f54"/>
    <p:sldId xmlns:r="http://schemas.openxmlformats.org/officeDocument/2006/relationships" id="260" r:id="Rb47d26c41f734aee"/>
    <p:sldId xmlns:r="http://schemas.openxmlformats.org/officeDocument/2006/relationships" id="261" r:id="R11263ac3a5aa482f"/>
    <p:sldId xmlns:r="http://schemas.openxmlformats.org/officeDocument/2006/relationships" id="262" r:id="Rfdd5bdd596f84634"/>
    <p:sldId xmlns:r="http://schemas.openxmlformats.org/officeDocument/2006/relationships" id="263" r:id="R86eb7e0038cd490a"/>
    <p:sldId xmlns:r="http://schemas.openxmlformats.org/officeDocument/2006/relationships" id="264" r:id="Rdf10bfcffbaa4129"/>
    <p:sldId xmlns:r="http://schemas.openxmlformats.org/officeDocument/2006/relationships" id="265" r:id="R8a450279df7649ac"/>
    <p:sldId xmlns:r="http://schemas.openxmlformats.org/officeDocument/2006/relationships" id="266" r:id="Rb9cbe88525754849"/>
    <p:sldId xmlns:r="http://schemas.openxmlformats.org/officeDocument/2006/relationships" id="267" r:id="R9fac7cef39d24878"/>
    <p:sldId xmlns:r="http://schemas.openxmlformats.org/officeDocument/2006/relationships" id="268" r:id="Rf82b58fe73104783"/>
    <p:sldId xmlns:r="http://schemas.openxmlformats.org/officeDocument/2006/relationships" id="269" r:id="R391d5e6271014ea9"/>
    <p:sldId xmlns:r="http://schemas.openxmlformats.org/officeDocument/2006/relationships" id="270" r:id="R4c57c1c56bfe49b8"/>
    <p:sldId xmlns:r="http://schemas.openxmlformats.org/officeDocument/2006/relationships" id="271" r:id="Rbee32ad287474c46"/>
    <p:sldId xmlns:r="http://schemas.openxmlformats.org/officeDocument/2006/relationships" id="272" r:id="R2c4b488526904ce7"/>
    <p:sldId xmlns:r="http://schemas.openxmlformats.org/officeDocument/2006/relationships" id="273" r:id="R4407316fa65a4c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0cc0280184cc9" /><Relationship Type="http://schemas.openxmlformats.org/officeDocument/2006/relationships/theme" Target="/ppt/theme/theme1.xml" Id="R9c11a9fc739848d8" /><Relationship Type="http://schemas.openxmlformats.org/officeDocument/2006/relationships/notesMaster" Target="/ppt/notesMasters/notesMaster1.xml" Id="R9d7d1afb06b649b0" /><Relationship Type="http://schemas.openxmlformats.org/officeDocument/2006/relationships/presProps" Target="/ppt/presProps.xml" Id="R5c7b6c3eaada4c8c" /><Relationship Type="http://schemas.openxmlformats.org/officeDocument/2006/relationships/viewProps" Target="/ppt/viewProps.xml" Id="Rc19c8a520b1044b4" /><Relationship Type="http://schemas.openxmlformats.org/officeDocument/2006/relationships/tableStyles" Target="/ppt/tableStyles.xml" Id="R269f9acacee54ed8" /><Relationship Type="http://schemas.openxmlformats.org/officeDocument/2006/relationships/slide" Target="/ppt/slides/slide1.xml" Id="R46947dd8246d4f12" /><Relationship Type="http://schemas.openxmlformats.org/officeDocument/2006/relationships/slide" Target="/ppt/slides/slide2.xml" Id="Re2620a04a796416e" /><Relationship Type="http://schemas.openxmlformats.org/officeDocument/2006/relationships/slide" Target="/ppt/slides/slide3.xml" Id="R17f58d3384d94947" /><Relationship Type="http://schemas.openxmlformats.org/officeDocument/2006/relationships/slide" Target="/ppt/slides/slide4.xml" Id="Ref3c1d47084d4f54" /><Relationship Type="http://schemas.openxmlformats.org/officeDocument/2006/relationships/slide" Target="/ppt/slides/slide5.xml" Id="Rb47d26c41f734aee" /><Relationship Type="http://schemas.openxmlformats.org/officeDocument/2006/relationships/slide" Target="/ppt/slides/slide6.xml" Id="R11263ac3a5aa482f" /><Relationship Type="http://schemas.openxmlformats.org/officeDocument/2006/relationships/slide" Target="/ppt/slides/slide7.xml" Id="Rfdd5bdd596f84634" /><Relationship Type="http://schemas.openxmlformats.org/officeDocument/2006/relationships/slide" Target="/ppt/slides/slide8.xml" Id="R86eb7e0038cd490a" /><Relationship Type="http://schemas.openxmlformats.org/officeDocument/2006/relationships/slide" Target="/ppt/slides/slide9.xml" Id="Rdf10bfcffbaa4129" /><Relationship Type="http://schemas.openxmlformats.org/officeDocument/2006/relationships/slide" Target="/ppt/slides/slide10.xml" Id="R8a450279df7649ac" /><Relationship Type="http://schemas.openxmlformats.org/officeDocument/2006/relationships/slide" Target="/ppt/slides/slide11.xml" Id="Rb9cbe88525754849" /><Relationship Type="http://schemas.openxmlformats.org/officeDocument/2006/relationships/slide" Target="/ppt/slides/slide12.xml" Id="R9fac7cef39d24878" /><Relationship Type="http://schemas.openxmlformats.org/officeDocument/2006/relationships/slide" Target="/ppt/slides/slide13.xml" Id="Rf82b58fe73104783" /><Relationship Type="http://schemas.openxmlformats.org/officeDocument/2006/relationships/slide" Target="/ppt/slides/slide14.xml" Id="R391d5e6271014ea9" /><Relationship Type="http://schemas.openxmlformats.org/officeDocument/2006/relationships/slide" Target="/ppt/slides/slide15.xml" Id="R4c57c1c56bfe49b8" /><Relationship Type="http://schemas.openxmlformats.org/officeDocument/2006/relationships/slide" Target="/ppt/slides/slide16.xml" Id="Rbee32ad287474c46" /><Relationship Type="http://schemas.openxmlformats.org/officeDocument/2006/relationships/slide" Target="/ppt/slides/slide17.xml" Id="R2c4b488526904ce7" /><Relationship Type="http://schemas.openxmlformats.org/officeDocument/2006/relationships/slide" Target="/ppt/slides/slide18.xml" Id="R4407316fa65a4c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a4e07306d5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18b9e32b9f461d" /><Relationship Type="http://schemas.openxmlformats.org/officeDocument/2006/relationships/notesMaster" Target="/ppt/notesMasters/notesMaster1.xml" Id="Rb7c36a5b686f4e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0bd20cab884957" /><Relationship Type="http://schemas.openxmlformats.org/officeDocument/2006/relationships/notesMaster" Target="/ppt/notesMasters/notesMaster1.xml" Id="Rf027e2afb62e48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4a360f8e454e5f" /><Relationship Type="http://schemas.openxmlformats.org/officeDocument/2006/relationships/notesMaster" Target="/ppt/notesMasters/notesMaster1.xml" Id="Rde89266091834e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1f57b653f34446" /><Relationship Type="http://schemas.openxmlformats.org/officeDocument/2006/relationships/notesMaster" Target="/ppt/notesMasters/notesMaster1.xml" Id="Rbcc2f02b413a4d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8f9139c5784d05" /><Relationship Type="http://schemas.openxmlformats.org/officeDocument/2006/relationships/notesMaster" Target="/ppt/notesMasters/notesMaster1.xml" Id="R4c6335fc769e4a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c8e5ca693d4fc0" /><Relationship Type="http://schemas.openxmlformats.org/officeDocument/2006/relationships/notesMaster" Target="/ppt/notesMasters/notesMaster1.xml" Id="R9d7b41bf50a24e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7d30daf30740ff" /><Relationship Type="http://schemas.openxmlformats.org/officeDocument/2006/relationships/notesMaster" Target="/ppt/notesMasters/notesMaster1.xml" Id="R36f8901dc21242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82a67023614844" /><Relationship Type="http://schemas.openxmlformats.org/officeDocument/2006/relationships/notesMaster" Target="/ppt/notesMasters/notesMaster1.xml" Id="R5333ad11206248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06389250ee46ad" /><Relationship Type="http://schemas.openxmlformats.org/officeDocument/2006/relationships/notesMaster" Target="/ppt/notesMasters/notesMaster1.xml" Id="Re34d20c51a244d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48a072ef8c436e" /><Relationship Type="http://schemas.openxmlformats.org/officeDocument/2006/relationships/notesMaster" Target="/ppt/notesMasters/notesMaster1.xml" Id="Rc921dc39c3ad4e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ff8751fdd84f40" /><Relationship Type="http://schemas.openxmlformats.org/officeDocument/2006/relationships/notesMaster" Target="/ppt/notesMasters/notesMaster1.xml" Id="Ra27534c322234a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6fc5abe5c94030" /><Relationship Type="http://schemas.openxmlformats.org/officeDocument/2006/relationships/notesMaster" Target="/ppt/notesMasters/notesMaster1.xml" Id="R58ac2e88679141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23cba680184b8b" /><Relationship Type="http://schemas.openxmlformats.org/officeDocument/2006/relationships/notesMaster" Target="/ppt/notesMasters/notesMaster1.xml" Id="R8df8a695f98e45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912ef5c77a48d8" /><Relationship Type="http://schemas.openxmlformats.org/officeDocument/2006/relationships/notesMaster" Target="/ppt/notesMasters/notesMaster1.xml" Id="R51366538a93542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7ad85a4ec647ba" /><Relationship Type="http://schemas.openxmlformats.org/officeDocument/2006/relationships/notesMaster" Target="/ppt/notesMasters/notesMaster1.xml" Id="R3bc6d24c57da40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8bd274e32d49d1" /><Relationship Type="http://schemas.openxmlformats.org/officeDocument/2006/relationships/notesMaster" Target="/ppt/notesMasters/notesMaster1.xml" Id="Ra024103201784e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1cbb4daf914ca2" /><Relationship Type="http://schemas.openxmlformats.org/officeDocument/2006/relationships/notesMaster" Target="/ppt/notesMasters/notesMaster1.xml" Id="Rd38cb384d11a4f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9b99782b0d41c2" /><Relationship Type="http://schemas.openxmlformats.org/officeDocument/2006/relationships/notesMaster" Target="/ppt/notesMasters/notesMaster1.xml" Id="R836a53a1483247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0e5ee07fd48b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3105b76393a4aba" /><Relationship Type="http://schemas.openxmlformats.org/officeDocument/2006/relationships/slideLayout" Target="/ppt/slideLayouts/slideLayout2.xml" Id="R99074c6ea77d46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74c6ea77d46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3fa35d4ef44f5a" /><Relationship Type="http://schemas.openxmlformats.org/officeDocument/2006/relationships/notesSlide" Target="/ppt/notesSlides/notesSlide1.xml" Id="Raadc354ea8c544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5ce48f8ff0496f" /><Relationship Type="http://schemas.openxmlformats.org/officeDocument/2006/relationships/notesSlide" Target="/ppt/notesSlides/notesSlide2.xml" Id="R18ac66a0813845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bc9db09a8646c1" /><Relationship Type="http://schemas.openxmlformats.org/officeDocument/2006/relationships/notesSlide" Target="/ppt/notesSlides/notesSlide3.xml" Id="R4ead12856ba14d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901b67ac04638" /><Relationship Type="http://schemas.openxmlformats.org/officeDocument/2006/relationships/notesSlide" Target="/ppt/notesSlides/notesSlide4.xml" Id="R1b5cf4d0475e48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f3c1b1286c4894" /><Relationship Type="http://schemas.openxmlformats.org/officeDocument/2006/relationships/image" Target="/ppt/media/image.png" Id="Rbf221220b95c4411" /><Relationship Type="http://schemas.openxmlformats.org/officeDocument/2006/relationships/notesSlide" Target="/ppt/notesSlides/notesSlide5.xml" Id="R90f2e19251494b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e5c9192819474c" /><Relationship Type="http://schemas.openxmlformats.org/officeDocument/2006/relationships/image" Target="/ppt/media/image2.png" Id="R1ce5b885f15249b2" /><Relationship Type="http://schemas.openxmlformats.org/officeDocument/2006/relationships/notesSlide" Target="/ppt/notesSlides/notesSlide6.xml" Id="Rb0d9dbcdd1a74b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f5c5f9b7c4703" /><Relationship Type="http://schemas.openxmlformats.org/officeDocument/2006/relationships/image" Target="/ppt/media/image3.png" Id="R0dab4fdf659b4b48" /><Relationship Type="http://schemas.openxmlformats.org/officeDocument/2006/relationships/notesSlide" Target="/ppt/notesSlides/notesSlide7.xml" Id="Rd91d582465fa42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fa3e4176294810" /><Relationship Type="http://schemas.openxmlformats.org/officeDocument/2006/relationships/image" Target="/ppt/media/image4.png" Id="Rb5537bbc77094146" /><Relationship Type="http://schemas.openxmlformats.org/officeDocument/2006/relationships/image" Target="/ppt/media/image5.png" Id="Ra962180818394e86" /><Relationship Type="http://schemas.openxmlformats.org/officeDocument/2006/relationships/notesSlide" Target="/ppt/notesSlides/notesSlide8.xml" Id="R01328f1ce53d40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cc3187c230483e" /><Relationship Type="http://schemas.openxmlformats.org/officeDocument/2006/relationships/notesSlide" Target="/ppt/notesSlides/notesSlide9.xml" Id="R676a49c3ed404b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6f06c7cf2b419c" /><Relationship Type="http://schemas.openxmlformats.org/officeDocument/2006/relationships/image" Target="/ppt/media/image6.png" Id="R4790089d7e7d4e7d" /><Relationship Type="http://schemas.openxmlformats.org/officeDocument/2006/relationships/notesSlide" Target="/ppt/notesSlides/notesSlide10.xml" Id="R1dbb0455d82549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c6a102ac0044fa" /><Relationship Type="http://schemas.openxmlformats.org/officeDocument/2006/relationships/image" Target="/ppt/media/image7.png" Id="R9d8713b9c71b4ac3" /><Relationship Type="http://schemas.openxmlformats.org/officeDocument/2006/relationships/notesSlide" Target="/ppt/notesSlides/notesSlide11.xml" Id="R3abb84c93de248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87313c8fcc4fc0" /><Relationship Type="http://schemas.openxmlformats.org/officeDocument/2006/relationships/image" Target="/ppt/media/image8.png" Id="R35fdefce38b94b6d" /><Relationship Type="http://schemas.openxmlformats.org/officeDocument/2006/relationships/notesSlide" Target="/ppt/notesSlides/notesSlide12.xml" Id="Re692e00543ef46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914673f6a6436d" /><Relationship Type="http://schemas.openxmlformats.org/officeDocument/2006/relationships/notesSlide" Target="/ppt/notesSlides/notesSlide13.xml" Id="R1564e8390a574a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42d8da389c4295" /><Relationship Type="http://schemas.openxmlformats.org/officeDocument/2006/relationships/image" Target="/ppt/media/image9.png" Id="R814cf43c7f334734" /><Relationship Type="http://schemas.openxmlformats.org/officeDocument/2006/relationships/notesSlide" Target="/ppt/notesSlides/notesSlide14.xml" Id="R736c932046f242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4607f70258439e" /><Relationship Type="http://schemas.openxmlformats.org/officeDocument/2006/relationships/image" Target="/ppt/media/image10.png" Id="R586a3f94dda045e2" /><Relationship Type="http://schemas.openxmlformats.org/officeDocument/2006/relationships/notesSlide" Target="/ppt/notesSlides/notesSlide15.xml" Id="R39954a005d7f49e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5a0129bd440a7" /><Relationship Type="http://schemas.openxmlformats.org/officeDocument/2006/relationships/image" Target="/ppt/media/image11.png" Id="R21f1dd54832c4dec" /><Relationship Type="http://schemas.openxmlformats.org/officeDocument/2006/relationships/notesSlide" Target="/ppt/notesSlides/notesSlide16.xml" Id="R8539452573224a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cddc43bcc94009" /><Relationship Type="http://schemas.openxmlformats.org/officeDocument/2006/relationships/notesSlide" Target="/ppt/notesSlides/notesSlide17.xml" Id="R6c065c827a5940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4b9844c734da3" /><Relationship Type="http://schemas.openxmlformats.org/officeDocument/2006/relationships/notesSlide" Target="/ppt/notesSlides/notesSlide18.xml" Id="R204ffaca37a14d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53FB1-90E4-4A10-87AD-75A2A5B8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6DA0E-C163-49DC-BFDB-BD3E16DC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A020D-00A5-4B82-AE71-F9919708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817CBF9-56FA-4F69-B20A-9E72A28B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PPT-PRIORITY COMPLETION</a:t>
            </a:r>
          </a:p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4F639D-9ECE-419F-8E6A-CE75DD52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8691A-CD12-469D-86CD-6E37C6E7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477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original two-plane + two-ellipse measurement pipeline is complete.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1CB12-DCF4-41F0-9EEC-11AC866D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52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0D5DD"/>
                </a:solidFill>
                <a:latin typeface="Aptos"/>
                <a:ea typeface="Aptos"/>
                <a:cs typeface="Aptos"/>
              </a:rPr>
              <a:t>Population measurements and statistics are finished across the available cohort. The generative model is intentionally deferred.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20B92-20F0-41E0-8AE6-5FDD8E61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16CFD-B0FE-48F2-99E5-EBE1DC2A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4A61A-CED9-4F21-8AB7-B3018D7F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NIfTI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5D203-718B-4776-BCEA-9F45578A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programmatically discovered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6D2C6-BD6E-4384-B09B-2B85DB0A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EEAD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5EEAD4"/>
                </a:solidFill>
                <a:latin typeface="Aptos"/>
                <a:ea typeface="Aptos"/>
                <a:cs typeface="Aptos"/>
              </a:rPr>
              <a:t>191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1AEA0-237E-4722-86FE-E6A605D4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292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complete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5BD3B-E817-48E5-A8AB-9C476AEA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673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two planes + two ellipses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9AF9B-3A92-47E9-B886-40440426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62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CA5A5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CA5A5"/>
                </a:solidFill>
                <a:latin typeface="Aptos"/>
                <a:ea typeface="Aptos"/>
                <a:cs typeface="Aptos"/>
              </a:rPr>
              <a:t>77,337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EEB4F-CFF1-4715-ACAA-C5FA5AD2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292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point residuals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7A05D-52AB-485B-808E-082F0682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67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vs ellipse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D288D-842F-4A30-8F13-1BA88D48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0.0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4F7F4-6AAC-4946-B2AD-357D371A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292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F134F-2818-440E-AA0A-5B700D6A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67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coordinates and segments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2DA9C-A9C2-4791-B7FD-3C0F4E3D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CD3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CD34D"/>
                </a:solidFill>
                <a:latin typeface="Aptos"/>
                <a:ea typeface="Aptos"/>
                <a:cs typeface="Aptos"/>
              </a:rPr>
              <a:t>PRE-GENERATION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FBA529-AAD4-45AC-82E2-5E991DD6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244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synthetic vessels</a:t>
            </a:r>
          </a:p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were created.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911DA0-F138-447B-BAE7-57DEDAB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D5E32A-E764-4B3A-AB5D-FD327C74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51380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CE53CC-A446-40E2-B892-F1DA85B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4BE78E9-435C-423D-8C76-F43F275B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1E6C4A2-F710-411D-B8DC-227058F4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OF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EF117-4776-4CC7-8231-923A7E73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One pipeline governs the work — and this increment stops at statistics.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58E0F-C981-4815-B4B1-308DE7D1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8166F-B657-4567-8600-C45D3D77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200 NIfTI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55A0F-5135-4EDA-910D-A5598FF6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07C5C-7482-4917-AD8D-81D6F8FF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71750"/>
            <a:ext cx="333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B5A22-6D35-4699-96A1-F08D1F1D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050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91FCA-BA04-45E3-A9BD-B2BE8625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193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centerlines +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landmarks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DC641-03D3-4F89-9E93-B6FB3614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02303-9580-48A0-BAE9-8B0DD09B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333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884E5-0BDE-4F5A-A98A-ABA1953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8643B-6FF4-404C-842E-88667A24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193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 SVD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planes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02952-1C20-46EB-B392-BA75427E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1B831-0547-4595-A6A4-E767DF38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333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4881E-39E4-4F8B-A638-8EA387D7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67F3F-E828-41AE-96F2-98C2C7A0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193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 fitted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ellipses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ACC54-CA5B-4641-91AF-857D5EF7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F2769-FF33-4508-9E95-485D05E5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33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41829-B4EE-4CCA-B2D9-14A92F3E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BFD9D-227A-4530-9CF0-5B12847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139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population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ABE90-370B-4F0B-9C71-D108E725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7170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0BC1C-1DC1-4C44-9448-2A5B16CB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050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CD3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D34D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11836F-6003-4E95-933F-9EEE0E35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479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171AE-9419-499A-900E-5CA0CA20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Original PPT work = primary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575D0-2B11-488B-931D-D90A6404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Heart-support surface = preserved extension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D610F-8735-49AC-BE5D-D36C2436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This deck reports measured evidence only. Parameter sampling, synthetic control points, noise sampling, generated bifurcations, B-splines and real-vs-generated comparisons remain outside this increment.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B0DA1-1FBE-4F64-9558-75856B2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84FA5-1260-426D-9793-82D64DAF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36917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00D52-0901-407E-94B0-E37EB4DF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5536FA4-5E1A-42D7-8793-777A7FCE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F0BC15E-592A-4DEB-B398-7670F757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REUSE, NOT RESTART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D77DD-8902-4FD0-AFD7-2C5B206D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Good extraction and geometry code was reused; the PPT gaps were filled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71202-144D-4513-A118-03083619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REUSED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927E6-6E25-40B9-9AE7-977F5D71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908D2-217B-466D-9FB2-CD9B4CC0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NIfTI discovery and label adapter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LMCA/LAD/LCX extraction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multi-signal RAS daughter assignment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inferred RCA candidate logic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centroid-SVD plane utility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exact source landmark/endpoints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04F6C-DE4A-491D-93E7-BE1A24C1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ADDED FOR PPT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3B2B7-FAFA-4363-9A9A-4A2ED025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8C93A-AB7B-48D2-A9FF-C68414C9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4762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deterministic population RAS plane basis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all-support actual 2-D ellipse fit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fixed theta and axial tilt conventions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branch angular extents on ellipse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signed per-point residual table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• robust, circular and correlation statistics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75453-0AE9-4841-82CA-488BB25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95F62-3FF9-4478-806F-1EC65915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24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Protected outputs were hash-checked before and after the run: Stage-1 VTK scaffold and parametric heart surface remained unchanged.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B3FC8-2FD1-42AA-AF10-DD5814A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AE4F3-2854-4B78-9C29-A2BDB637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52345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A2AC61-98BE-4078-A99E-7DE05E14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C94D77-101E-4B35-BC84-7595FE2F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851D01-3B16-42CC-91BA-D574F92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METHOD SEPARATION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3C38A-0D0A-46D9-8647-FD60DA0E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SVD answers “which plane?”; ellipse fitting answers “which a, b and tilt?”.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4EDBA-95F9-4AF7-9973-00831DF6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7251F-6A7E-45D4-AAE7-1A1C7940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 — SVD 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44EE2-CEE4-44B1-A8EC-DC928D1A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source XYZ → centroid → SVD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1419F-C626-4187-A7D4-E7A9300A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ED126-0A99-42B0-864D-60152AD6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centroid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normal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plane basis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point-to-plane residual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87989-B624-4AB8-B0A6-B42CCF2A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52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does not output a, b or tilt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AFA49-DF2B-41D0-9650-2A17A48C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05000"/>
            <a:ext cx="5067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8C0AB-E100-476C-9540-8AA8A806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B — ACTUAL ELLIPSE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F6CA4-CBAD-4B5D-8F7E-6BE3E6F3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plane (u,v) → nonlinear 2-D 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CA72B-5FB7-4802-900C-36C86C36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C0A72-3953-489B-9B30-26653467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center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semi-major a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semi-minor b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axial tilt + fit residual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FCBDA-CEBE-4AFD-9450-865D7C5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148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lifts back to 3-D only for reference/visualization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523A1-F7B1-4EC9-9EBC-72B2F987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37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8EDE1-697F-423D-87B9-A433A17E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241C0-C6D4-4E1E-9DAE-2FB03D65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The source coordinate array is copied, measured and hash-verified. It is never snapped to either object.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6BD8D-2955-43DE-804E-20B07C8D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B0041-E737-4F69-972F-3ADCA6D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08138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9F6F7B-3D58-483F-ACC5-BBE1EDF8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DE69C5D-E243-481F-857C-BA7CE5A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DB9B847-9713-4341-9F51-03844742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COHORT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A0BCC-82A2-41A9-A741-F37F0093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191 of 200 label volumes complete both planes and both ellipses.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21220b95c4411"/>
          <a:stretch xmlns:a="http://schemas.openxmlformats.org/drawingml/2006/main"/>
        </p:blipFill>
        <p:spPr>
          <a:xfrm xmlns:a="http://schemas.openxmlformats.org/drawingml/2006/main">
            <a:off x="457200" y="2000687"/>
            <a:ext cx="8001000" cy="36662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07463-9236-4241-A02E-F6C045AC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0C73B-189A-4E94-973A-8B227413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85950"/>
            <a:ext cx="2571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Nine cases retain the existing documented failure: no bifurcation satisfied Stage-2 LCA selection thresholds.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7ED28-F9EE-43B1-9C53-27173CD9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86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F5D7A-0F17-44A2-BC97-CDCE14C1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529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eligible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800C1-C32A-4F25-AC9F-E9383F2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91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95.5% of discovered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9FF56-BDA2-4D5E-B8C9-2C709254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6C114-0076-43D9-85DA-D1731D1F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92147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03BA10-D257-4368-9D77-02CA5F82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23B3E3-3B7E-4CB1-BFD1-CA227440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B4E9199-694D-47AA-A7B9-4CBE076C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TWO PLANES / PATIENT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BC3E0-74FB-403D-877D-91BFE2C6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The crown and LAD planes retain distinct anatomical roles.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5b885f15249b2"/>
          <a:stretch xmlns:a="http://schemas.openxmlformats.org/drawingml/2006/main"/>
        </p:blipFill>
        <p:spPr>
          <a:xfrm xmlns:a="http://schemas.openxmlformats.org/drawingml/2006/main">
            <a:off x="2371090" y="1714500"/>
            <a:ext cx="4173221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8A12C-1906-4159-822D-596432AF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71ECC-4274-4E85-AD3E-06D329BC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85950"/>
            <a:ext cx="2571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Crown support: LCX + inferred RCA candidate where available. LAD plane: unchanged LAD descent. RCA remains candidate—not annotated ground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FB9D4-92BD-46BC-AE22-F992CE50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CED08-181C-411F-86E0-9950D6E9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inferred RCA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2BFF3-8125-4993-AB40-4133BB64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 LCX-only approximations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C9B83-5EC8-408C-BC45-85BF4722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4027D-B10E-42F5-97F1-26D1E691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99604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F10B68-650D-4EC6-9082-2D4C1BB0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17B0BA-CF94-4D86-AFE6-2D9A327B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7812C9A-6F28-46B4-923E-FE9BAE87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TWO ACTUAL ELLIPSES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92020-B627-4D9F-B321-25A0C1A6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Each projected support set is fit by a genuine planar ellipse — never by the SVD display patch.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b4fdf659b4b48"/>
          <a:stretch xmlns:a="http://schemas.openxmlformats.org/drawingml/2006/main"/>
        </p:blipFill>
        <p:spPr>
          <a:xfrm xmlns:a="http://schemas.openxmlformats.org/drawingml/2006/main">
            <a:off x="2371090" y="1714500"/>
            <a:ext cx="4173221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A5B55-B93F-4944-BE99-53D93ECC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F4B3B-4CE2-49A4-B6BB-15C6F7ED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85950"/>
            <a:ext cx="2571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The source arteries remain unchanged. Ellipse curves are statistical references measured in their fitted planes.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035BC-3778-4E26-BEB3-127BB681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2 × 191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A6BAE-3CA4-4F66-A6BE-F7DC32D9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actual ellipse fits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DC7EA-A061-46D3-8A78-FE167C6F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all unchanged source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2C501-EE4E-4558-B850-11156D10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81337-1D9B-4F72-ACCD-99BEB3BB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06666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CDEA77-5901-47D4-A1E7-EEF5A182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3A56FA-1FBF-4637-8C80-68840682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8CEC01B-8C4E-4292-A29A-788E3C7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ELLIPSE PARAMETERS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4E3FA-8416-4AE6-9A3C-31D87837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Partial arterial arcs create long-tailed full-ellipse parameters — the tails stay visible.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37bbc77094146"/>
          <a:stretch xmlns:a="http://schemas.openxmlformats.org/drawingml/2006/main"/>
        </p:blipFill>
        <p:spPr>
          <a:xfrm xmlns:a="http://schemas.openxmlformats.org/drawingml/2006/main">
            <a:off x="419100" y="2447285"/>
            <a:ext cx="5562600" cy="167768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2180818394e86"/>
          <a:stretch xmlns:a="http://schemas.openxmlformats.org/drawingml/2006/main"/>
        </p:blipFill>
        <p:spPr>
          <a:xfrm xmlns:a="http://schemas.openxmlformats.org/drawingml/2006/main">
            <a:off x="6210300" y="2441539"/>
            <a:ext cx="5600700" cy="168917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FB965-36DC-4CC9-9BBC-986FE1A1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2FC9C-41F6-4F08-A8AF-98EA2ACF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55.2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EE06C-7D55-4CE2-8B1B-6F4DBB31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crown a median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DF93-5C3D-48A2-B1DE-908C7C9A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mean 90.8 • long upper 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020A6-5AA5-4EBC-8650-CA7D5348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197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198.5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183B8-3E96-4F63-A741-FC8D83C2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864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LAD a median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129AA-86C3-45C8-A4F1-7E479FDF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24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mean 215.0 • partial-arc 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E62AA-E5CB-4223-9D73-B926E690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9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Scientific handling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CAAA2-8E30-4F66-80B5-9DDF7099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24500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 cases were removed simply to lower RMSE. Mean, median, IQR, P5 and P95 expose fit instability transparently.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012E6-2364-4853-9936-59C8CD89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DC5FF-7184-483C-8A27-C9AE4CA7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48368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180E68-8DFE-4E0D-89C7-16F10EF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2B4F16-C192-407C-812C-5A0C2333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2CEBAD-CF29-452D-B7B9-808B1B81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ANGLE CONVENTION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7B097-E06E-4CF8-8765-95DEB48C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 deterministic RAS-tied frame removes arbitrary axis signs from population theta.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9F587-328E-4B24-8558-ED2A4CB5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762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4FCFB-BA32-408E-9879-87F10E0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21456-E243-4FD2-933D-622D6D3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909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θ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4E66A-BCD7-4A88-B4E8-37F49825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85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A0793-0DE5-4874-9C08-EC219BF7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 minor axis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653C2-579F-4228-9754-143B41EA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48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major axis e₁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7B568-57EB-406A-AE1D-3B184AA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59A03-1DE8-405A-8AF2-9B72C52E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C06DD-29D9-4A5F-A0CD-607DE384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Plane u comes from projected RAS +X; +Y/+Z are deterministic fallbacks.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52A5F-8D57-4396-815D-90FA6777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784EB-C194-429A-B355-5038A8F4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2F7BC-E7B7-4BD6-A624-FA62B9DC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Normal sign uses fixed RAS Z/Y/X priority, producing a right-handed frame.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A8166-C5D2-40D3-AB1B-87232A94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3014F-6093-47A9-BDC1-08BF253E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9E97F-5F46-4D80-B32F-65E91493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Ellipse major axis is axial: tilt lives in [−90°, 90°); theta increases toward +minor axis.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C7925-CB5F-48F9-A0DF-D36E1F67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419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B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83874-8B32-4401-A0E2-256347E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38750"/>
            <a:ext cx="3771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This convention prevents 180° sign flips from corrupting population statistics.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85DF9-5AD8-4ED0-BA78-F0BB3CD5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1F46B-A0FB-47D8-8F9A-8CF38B06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63634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8B0A71-9800-46F6-B278-BA52711F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80A29F0-DD6F-494F-BB29-C51639A1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75037D-F770-4C5C-8EEB-3F573385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LANDMARK THETA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F98FA-53D3-4B86-A749-6286782E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Bifurcation and terminal positions are circular variables, not ordinary means.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0089d7e7d4e7d"/>
          <a:stretch xmlns:a="http://schemas.openxmlformats.org/drawingml/2006/main"/>
        </p:blipFill>
        <p:spPr>
          <a:xfrm xmlns:a="http://schemas.openxmlformats.org/drawingml/2006/main">
            <a:off x="1726733" y="1714500"/>
            <a:ext cx="5461935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F9F48-1949-4225-A8DD-9B15B551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F1702-AD35-4E36-BD81-EB1C7163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85950"/>
            <a:ext cx="2571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Landmark theta has a 360° period. Circular mean, circular standard deviation and resultant length are exported.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979D6-416A-4AB8-9175-8B64D21E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360°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F3980-A90F-4B63-AD6E-9AD39765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theta period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7ADB1-28BE-464E-9502-CA6B22C0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directional circular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03B04-2F8F-44A9-8369-96662D32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CF5C3-BA06-488A-A2C3-07A515D0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81439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1228E-F973-4AD9-9B33-D9FC2876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47987B8-6E86-40BA-80BD-5727CE69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36D91E3-70D2-4D18-B9BD-6F4AE50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BRANCH EXTENT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0B88D-3856-4A4C-BE19-48486799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LAD and LCX extent is measured along the fitted ellipse, in source order.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713b9c71b4ac3"/>
          <a:stretch xmlns:a="http://schemas.openxmlformats.org/drawingml/2006/main"/>
        </p:blipFill>
        <p:spPr>
          <a:xfrm xmlns:a="http://schemas.openxmlformats.org/drawingml/2006/main">
            <a:off x="457200" y="2015988"/>
            <a:ext cx="8001000" cy="363564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0A2C6-4F8D-43D2-9C02-BAE0EFD1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9674C-53F0-49AE-9693-2E98FBA5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85950"/>
            <a:ext cx="2571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LCX |extent| mean 54.1°. LAD |extent| mean 95.4°. Extent is unwrapped terminal theta minus initial theta—not a Euclidean bifurcation angle.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24128-E9DF-4917-928A-C3CA12E5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95.4°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632D4-5AF4-4247-A60A-6221CAE9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mean LAD extent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AD460-1282-46EC-B79F-D537E108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LCX mean 54.1°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E95C6-664D-4076-A59A-2C5492E5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B8CEA-9D79-4B10-ABCF-03406DB0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237020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E81F5-0726-4451-A2B2-66335F10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FAF293-998C-4B7A-932E-DBAA6FDD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DAB9F02-BF31-44CB-B39C-DE926A80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PER-POINT DEVIATION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8447B-48DD-408F-A7A1-7EC5CD7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77,337 point records preserve how vessels depart from ideal ellipses.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defce38b94b6d"/>
          <a:stretch xmlns:a="http://schemas.openxmlformats.org/drawingml/2006/main"/>
        </p:blipFill>
        <p:spPr>
          <a:xfrm xmlns:a="http://schemas.openxmlformats.org/drawingml/2006/main">
            <a:off x="457200" y="2617531"/>
            <a:ext cx="8001000" cy="243256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5D231-CA41-47E9-9DF4-C7DE5C5B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FF15F-8807-4204-81E9-6919E1AB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85950"/>
            <a:ext cx="2571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Each row stores normalized branch position, theta, source XYZ, reference XYZ, signed in-plane residual, signed out-of-plane residual and Euclidean residual.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1DF99-3CAA-4E39-970C-4277B433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10.66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3DE17-CD14-48A0-B4F2-A7416CD2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LCX mean point residual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FD8FF-B4EB-4CA5-A0EC-2135F672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LAD mean 2.99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18ED6-8AD5-40BA-BF59-1C89B122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F3A9A-0BAE-45CF-A60D-B1F01C76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09563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E9EC3-1058-425E-A30C-E824DB06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6C634D-BF76-451A-ABAE-6DD63401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C788B0-5B8A-4CC0-A4BA-5A54ADF4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POPULATION STATISTICS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B3C43-3E1E-4680-B466-B3149729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Every model variable carries robust summaries; angles also carry circular summaries.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366E7-794B-4BE6-AC46-36638BDB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FA917-44BD-45BC-AE46-8EBFCAF4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CROWN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04000-896A-484A-AA71-6A166BFE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 90.8 ± 127.8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51C2F-9467-4279-82F8-CCA41452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 40.4 ± 15.9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811C7-CB9C-420F-BBE8-CDB6B9DE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tilt μc 1.7° • σc 31.5°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D831F-5B12-455B-9EA8-BF94FE7E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31452-5333-40D9-A9F2-7F2A5937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LAD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7B527-3999-4D9F-9B37-29B1B2BC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 215.0 ± 168.8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5940A-382B-4511-A918-272BB6CC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 69.0 ± 44.7 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B0CF4-344A-404D-B3C4-2C27F487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195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tilt μc −29.0° • σc 68.0°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27180-DFAA-436B-862D-DD34152C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C101A-483F-46A3-8DEC-FEFF415D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E8426-0534-4418-A5E1-560CDD4E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plane angle 70.4 ± 15.3°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AA330-9A2F-4A04-8B1D-A274DBA3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528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LCX extent 54.1 ± 35.7°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75FB6-6760-463F-967A-53E7B651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LAD extent 95.4 ± 71.5°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722E0-889B-42C0-928F-615C9121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2FDDE-613D-4709-8623-7E40C48C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RESIDUAL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145B2-0C10-4E29-AE2C-98F6520B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LCX mean 10.66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48DF1-7154-470F-A86A-B7EC766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LAD mean 2.99 mm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52254-171D-4D5A-90C9-DC965007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95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signed + Euclidean pooled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74C74-FE54-44DC-9AEE-94AACC72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56F79-DCCB-4BB1-BD02-F21BC339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21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Each variable exports N • mean • sample SD • median • IQR • min/max • P5/P95 — plus circular mean, circular SD and resultant length where appropriate.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FE5C4-900B-48AD-BCB9-18E04D6B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4B713A-5E20-44F0-86EB-3D4301FD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993972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1BF919-CEE0-48E1-94B6-1E03703D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5C7C34B-6621-4434-B469-9688F8AD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BD54B4E-BDF1-4363-A18A-73BD5179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DEPENDENCE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7AD5-0761-461F-899C-2D30FE1A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Correlation is measured now so later sampling does not assume independence blindly.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cf43c7f334734"/>
          <a:stretch xmlns:a="http://schemas.openxmlformats.org/drawingml/2006/main"/>
        </p:blipFill>
        <p:spPr>
          <a:xfrm xmlns:a="http://schemas.openxmlformats.org/drawingml/2006/main">
            <a:off x="1981655" y="1714500"/>
            <a:ext cx="4952090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D7144-17D7-4413-B2FC-B1F6713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BF5E3-0F05-4C96-85DF-24875607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85950"/>
            <a:ext cx="2571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Pearson r is a diagnostic for selected continuous linear quantities. Circular-linear dependence remains a later modeling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92DC9-F0DF-4F4D-AC6E-764DD5C7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Pearson 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0B672-9622-4981-BECE-266330E7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diagnostic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CCC2C-9AF5-4C85-8210-AD8B153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selected linear variables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C0528-34A7-4681-8C37-86B2F80D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C5A29-1CD8-4F39-A27F-E41CB10D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14996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E8171-BFFA-4B7F-A628-758C5EC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CA1731-4535-4A49-9DCC-5522DDC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C32B9E-0097-476E-983D-BEB96329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 INTEGRITY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83478-A84C-4369-9CA7-B1F84E32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Measurement changed no source coordinate and no source segment length.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a3f94dda045e2"/>
          <a:stretch xmlns:a="http://schemas.openxmlformats.org/drawingml/2006/main"/>
        </p:blipFill>
        <p:spPr>
          <a:xfrm xmlns:a="http://schemas.openxmlformats.org/drawingml/2006/main">
            <a:off x="457200" y="2089408"/>
            <a:ext cx="8001000" cy="34888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971E4-385E-4001-A6F0-8931C2BA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38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A67BF-78CE-4286-8971-D8FB7BBC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85950"/>
            <a:ext cx="2571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Max coordinate change: 0.0 mm. Max segment-length change: 0.0 mm. Per-array and per-archive SHA-256 hashes are stored.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7D59F-2D84-4FB0-9076-7F70A9C7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 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551CB-F2A1-4D88-B79B-53A8BE9F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maximum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B3EF4-FDDF-49B6-B46F-481A6B0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coordinates + segments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EEDBF-1C01-4749-B03B-77E8E57D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E2F28-1C2F-4482-9616-B5A7D6F3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630117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0E992B-2C22-4363-BA5D-D4597C5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09BB012-E061-4111-B0D8-10C88EA5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E9F4E7-553E-464A-887C-D3C03068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EXTENSION SEPARATION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CCE5A-112C-4DFF-AE36-7523B00C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The later heart-support surface is preserved as an extension — not a substitute.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1dd54832c4dec"/>
          <a:stretch xmlns:a="http://schemas.openxmlformats.org/drawingml/2006/main"/>
        </p:blipFill>
        <p:spPr>
          <a:xfrm xmlns:a="http://schemas.openxmlformats.org/drawingml/2006/main">
            <a:off x="1199718" y="1714500"/>
            <a:ext cx="3944214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3383B-0C53-47C6-AFF4-AF7D4DE2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ORIGINAL PPT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25DF2-BD1B-4149-B9C8-3809FE50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78683-BAA7-4F09-8D72-7896ACB4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two patient planes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two fitted planar ellipses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landmark theta + branch extent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per-point residuals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population statistics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139B7-D123-429C-824C-09624140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PRESERVED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07BDB-4219-49D6-ABC0-674DC684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E8282-D094-4E50-B769-0EA5DD3A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parametric 3-D heart support surface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Stage-1 VTK/VTM scaffold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14743-DCBF-4EE7-B7AD-EAB5007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4835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Future combination is possible—but neither definition is rewritten to imitate the other.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77A3E-4CAE-4EFE-A131-3741AAA5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4EDE7-EE00-42DC-AAF7-C8DE7890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2061314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286D4-5676-46F1-B189-098746C4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C589A6-4661-4215-820D-60C2488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CEAE94-B9C4-4BA8-9AD8-62297FBE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NEXT INCREMENT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E2E76-735E-48C9-9226-902371CF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Generation begins with joint sampling; none of these future steps run today.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A82F7-3D56-4631-8669-A6412D73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9525">
            <a:solidFill>
              <a:srgbClr val="4754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37F4A-387B-4496-AB23-4E4BC967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4317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joint ellipse</a:t>
            </a:r>
          </a:p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parameter sampling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1B6EF-F2D2-4B41-A154-067F65EF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86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7C2C1-63AD-4EA7-A5B1-0EF11E43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432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5F1BB-273C-4EBB-A5E2-535CFEB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9525">
            <a:solidFill>
              <a:srgbClr val="4754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57E98-0914-4E83-9DE6-F18C58D1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4317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circular landmark</a:t>
            </a:r>
          </a:p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sampling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47DE0-4EF0-4CAF-8788-723A272F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86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888D8-5610-461D-8FFA-A0B7D7E7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5C2C0-9C93-4AD0-8669-ED6941D2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9525">
            <a:solidFill>
              <a:srgbClr val="4754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63864-DFFD-420C-8B53-D443D6DB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317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arc-length</a:t>
            </a:r>
          </a:p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control 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56AA6-8B9C-4C0D-8A69-C5525BE0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86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B1B63-E221-42C1-939D-287ACD1C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432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30D4C-FC02-498E-B450-DB00F41F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9525">
            <a:solidFill>
              <a:srgbClr val="4754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6A440-2765-4C4E-9B05-68EFB3CC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4317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smooth empirical</a:t>
            </a:r>
          </a:p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residuals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ECB46-76F6-4850-AB9A-61411F01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86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1E5EC-1AF2-49AA-BB82-BC9C98B8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432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67F1E-52E6-47A7-AEDB-A5A025EE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9525">
            <a:solidFill>
              <a:srgbClr val="47546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B8F77-2077-4D16-92D8-6BE95464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4317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shared LMCA</a:t>
            </a:r>
          </a:p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bifurcation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D3E45-C923-4EE0-AF73-8BC99C3F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86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01D7DD-8A75-442E-8AD9-77DA32C5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4320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8ABFD7-0253-46A7-B2A6-9FAFCD4A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1562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9525">
            <a:solidFill>
              <a:srgbClr val="47546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ECDFE8-9718-479E-B4D1-29749DD1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43175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reuse B-spline +</a:t>
            </a:r>
          </a:p>
          <a:p xmlns:a="http://schemas.openxmlformats.org/drawingml/2006/main">
            <a:pPr algn="ctr">
              <a:defRPr sz="1200" b="1">
                <a:solidFill>
                  <a:srgbClr val="D0D5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6B483-5516-4BC7-8476-49530C31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089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2F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8436C1-0845-4A4D-8BE1-B10D59E4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040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CD3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CD34D"/>
                </a:solidFill>
                <a:latin typeface="Aptos"/>
                <a:ea typeface="Aptos"/>
                <a:cs typeface="Aptos"/>
              </a:rPr>
              <a:t>DEFERRED — no sampler, synthetic noise, generated vessel, B-spline output, VTK sample or real-vs-generated comparison exists in this increment.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070DDA-E8CD-443A-84E3-E892C6C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089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measured CSV/JSON files are the validated hand-off for this future work.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F8457D-88F8-4A43-B645-F24C3731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632070-65FB-4F56-873E-6AD26B6F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422773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B7F52-28F4-4E4C-9866-2354103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E73807-5E4B-4FBD-86AA-06FFFE18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59863B-B155-4D53-ADB7-73C53DED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COMPLETION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95BC5-0428-40E6-91FC-06AC9A01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The measured PPT model is ready for a later, separately validated generator.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2B509-D325-4F7B-814A-AE1F71BC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A7AF9-225D-4655-88F0-668C2F09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labels discovered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91DFF-09BB-48A2-B546-172C5C63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 documented extraction failures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D0BB2-409B-4241-BACC-063FD7C8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D37F8-2541-4114-AD81-F8D61791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479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two-plane fits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5499F-DA55-4842-B863-C4A1D59C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centroid-SVD in 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6077C-42B5-44D8-8E4D-9163F5D6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812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191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06F84-3694-4277-B44D-171752C7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479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two-ellipse fits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27E33-98D9-43A9-B2FA-9EA56100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86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all support points measured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C6524-2F59-47CE-9919-24BF9298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BF146-A896-446E-825E-98B6F096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479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population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85949-16D7-4DBF-8A13-71D98D4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robust + circular statistics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F7924-8891-49B6-8308-D31201EE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A82D2-03BB-488D-B9FE-DA14F3B6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Delivered now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1391F-983D-46E2-A1CE-127F0FEF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476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case status • per-patient parameters • pointwise residuals • statistics • circular summaries • correlation matrix • 12 modular figures • method/audit reports • this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5D611-EF94-4378-A218-8E8095AD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Next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DBBCC-4C91-4553-9224-18A4B199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476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Choose the joint/circular statistical sampling design, then implement and validate the generative model as a separate increment.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85B40-6DD6-442B-87B8-5B1B465F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225C4-F83A-4257-BB4F-762B63E6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19725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CD3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CD34D"/>
                </a:solidFill>
                <a:latin typeface="Aptos"/>
                <a:ea typeface="Aptos"/>
                <a:cs typeface="Aptos"/>
              </a:rPr>
              <a:t>Generator status: NOT IMPLEMENTED BY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C6214-BA1A-4349-8E23-01FEABED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measured PPT-priority outputs • generator deferred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15325-BCC4-4404-8523-2EE50CAF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88348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2026-08-08T20:03:55.8910000Z</dcterms:created>
  <dcterms:modified xsi:type="dcterms:W3CDTF">2026-08-08T20:03:55.8910000Z</dcterms:modified>
</coreProperties>
</file>